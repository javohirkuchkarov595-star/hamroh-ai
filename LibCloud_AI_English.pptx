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13.svg" ContentType="image/svg+xml"/>
  <Override PartName="/ppt/media/image15.svg" ContentType="image/svg+xml"/>
  <Override PartName="/ppt/media/image16.svg" ContentType="image/svg+xml"/>
  <Override PartName="/ppt/media/image18.svg" ContentType="image/svg+xml"/>
  <Override PartName="/ppt/media/image19.svg" ContentType="image/svg+xml"/>
  <Override PartName="/ppt/media/image2.svg" ContentType="image/svg+xml"/>
  <Override PartName="/ppt/media/image21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1.svg" ContentType="image/svg+xml"/>
  <Override PartName="/ppt/media/image33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5.svg" ContentType="image/svg+xml"/>
  <Override PartName="/ppt/media/image46.svg" ContentType="image/svg+xml"/>
  <Override PartName="/ppt/media/image48.svg" ContentType="image/svg+xml"/>
  <Override PartName="/ppt/media/image5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0.svg" ContentType="image/svg+xml"/>
  <Override PartName="/ppt/media/image62.svg" ContentType="image/svg+xml"/>
  <Override PartName="/ppt/media/image63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.svg" ContentType="image/svg+xml"/>
  <Override PartName="/ppt/media/image70.svg" ContentType="image/svg+xml"/>
  <Override PartName="/ppt/media/image71.svg" ContentType="image/svg+xml"/>
  <Override PartName="/ppt/media/image73.svg" ContentType="image/svg+xml"/>
  <Override PartName="/ppt/media/image74.svg" ContentType="image/svg+xml"/>
  <Override PartName="/ppt/media/image75.svg" ContentType="image/svg+xml"/>
  <Override PartName="/ppt/media/image76.svg" ContentType="image/svg+xml"/>
  <Override PartName="/ppt/media/image77.svg" ContentType="image/svg+xml"/>
  <Override PartName="/ppt/media/image79.svg" ContentType="image/svg+xml"/>
  <Override PartName="/ppt/media/image81.svg" ContentType="image/svg+xml"/>
  <Override PartName="/ppt/media/image82.svg" ContentType="image/svg+xml"/>
  <Override PartName="/ppt/media/image83.svg" ContentType="image/svg+xml"/>
  <Override PartName="/ppt/media/image84.svg" ContentType="image/svg+xml"/>
  <Override PartName="/ppt/media/image85.svg" ContentType="image/svg+xml"/>
  <Override PartName="/ppt/media/image87.svg" ContentType="image/svg+xml"/>
  <Override PartName="/ppt/media/image89.svg" ContentType="image/svg+xml"/>
  <Override PartName="/ppt/media/image9.svg" ContentType="image/svg+xml"/>
  <Override PartName="/ppt/media/image91.svg" ContentType="image/svg+xml"/>
  <Override PartName="/ppt/media/image9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84" y="1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4944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42D9C8"/>
          </a:solidFill>
          <a:ln w="12700">
            <a:solidFill>
              <a:srgbClr val="42D9C8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F8D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F8D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6.png"/><Relationship Id="rId6" Type="http://schemas.openxmlformats.org/officeDocument/2006/relationships/image" Target="../media/image7.svg"/><Relationship Id="rId7" Type="http://schemas.openxmlformats.org/officeDocument/2006/relationships/image" Target="../media/image8.png"/><Relationship Id="rId8" Type="http://schemas.openxmlformats.org/officeDocument/2006/relationships/image" Target="../media/image9.svg"/><Relationship Id="rId9" Type="http://schemas.openxmlformats.org/officeDocument/2006/relationships/image" Target="../media/image10.png"/><Relationship Id="rId10" Type="http://schemas.openxmlformats.org/officeDocument/2006/relationships/image" Target="../media/image11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12.png"/><Relationship Id="rId6" Type="http://schemas.openxmlformats.org/officeDocument/2006/relationships/image" Target="../media/image13.svg"/><Relationship Id="rId7" Type="http://schemas.openxmlformats.org/officeDocument/2006/relationships/image" Target="../media/image14.png"/><Relationship Id="rId8" Type="http://schemas.openxmlformats.org/officeDocument/2006/relationships/image" Target="../media/image15.svg"/><Relationship Id="rId9" Type="http://schemas.openxmlformats.org/officeDocument/2006/relationships/image" Target="../media/image8.png"/><Relationship Id="rId10" Type="http://schemas.openxmlformats.org/officeDocument/2006/relationships/image" Target="../media/image16.svg"/><Relationship Id="rId11" Type="http://schemas.openxmlformats.org/officeDocument/2006/relationships/image" Target="../media/image17.png"/><Relationship Id="rId12" Type="http://schemas.openxmlformats.org/officeDocument/2006/relationships/image" Target="../media/image18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19.svg"/><Relationship Id="rId6" Type="http://schemas.openxmlformats.org/officeDocument/2006/relationships/image" Target="../media/image20.png"/><Relationship Id="rId7" Type="http://schemas.openxmlformats.org/officeDocument/2006/relationships/image" Target="../media/image21.svg"/><Relationship Id="rId8" Type="http://schemas.openxmlformats.org/officeDocument/2006/relationships/image" Target="../media/image17.png"/><Relationship Id="rId9" Type="http://schemas.openxmlformats.org/officeDocument/2006/relationships/image" Target="../media/image22.svg"/><Relationship Id="rId10" Type="http://schemas.openxmlformats.org/officeDocument/2006/relationships/image" Target="../media/image23.png"/><Relationship Id="rId11" Type="http://schemas.openxmlformats.org/officeDocument/2006/relationships/image" Target="../media/image24.svg"/><Relationship Id="rId12" Type="http://schemas.openxmlformats.org/officeDocument/2006/relationships/image" Target="../media/image25.png"/><Relationship Id="rId13" Type="http://schemas.openxmlformats.org/officeDocument/2006/relationships/image" Target="../media/image26.svg"/><Relationship Id="rId14" Type="http://schemas.openxmlformats.org/officeDocument/2006/relationships/image" Target="../media/image27.png"/><Relationship Id="rId15" Type="http://schemas.openxmlformats.org/officeDocument/2006/relationships/image" Target="../media/image28.svg"/><Relationship Id="rId16" Type="http://schemas.openxmlformats.org/officeDocument/2006/relationships/image" Target="../media/image29.png"/><Relationship Id="rId17" Type="http://schemas.openxmlformats.org/officeDocument/2006/relationships/image" Target="../media/image30.svg"/><Relationship Id="rId18" Type="http://schemas.openxmlformats.org/officeDocument/2006/relationships/image" Target="../media/image31.svg"/><Relationship Id="rId19" Type="http://schemas.openxmlformats.org/officeDocument/2006/relationships/image" Target="../media/image32.png"/><Relationship Id="rId20" Type="http://schemas.openxmlformats.org/officeDocument/2006/relationships/image" Target="../media/image33.svg"/><Relationship Id="rId21" Type="http://schemas.openxmlformats.org/officeDocument/2006/relationships/image" Target="../media/image34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35.png"/><Relationship Id="rId6" Type="http://schemas.openxmlformats.org/officeDocument/2006/relationships/image" Target="../media/image36.svg"/><Relationship Id="rId7" Type="http://schemas.openxmlformats.org/officeDocument/2006/relationships/image" Target="../media/image37.png"/><Relationship Id="rId8" Type="http://schemas.openxmlformats.org/officeDocument/2006/relationships/image" Target="../media/image38.svg"/><Relationship Id="rId9" Type="http://schemas.openxmlformats.org/officeDocument/2006/relationships/image" Target="../media/image39.png"/><Relationship Id="rId10" Type="http://schemas.openxmlformats.org/officeDocument/2006/relationships/image" Target="../media/image40.svg"/><Relationship Id="rId11" Type="http://schemas.openxmlformats.org/officeDocument/2006/relationships/image" Target="../media/image41.png"/><Relationship Id="rId12" Type="http://schemas.openxmlformats.org/officeDocument/2006/relationships/image" Target="../media/image42.svg"/><Relationship Id="rId13" Type="http://schemas.openxmlformats.org/officeDocument/2006/relationships/image" Target="../media/image43.png"/><Relationship Id="rId14" Type="http://schemas.openxmlformats.org/officeDocument/2006/relationships/image" Target="../media/image44.svg"/><Relationship Id="rId15" Type="http://schemas.openxmlformats.org/officeDocument/2006/relationships/image" Target="../media/image45.svg"/><Relationship Id="rId16" Type="http://schemas.openxmlformats.org/officeDocument/2006/relationships/image" Target="../media/image8.png"/><Relationship Id="rId17" Type="http://schemas.openxmlformats.org/officeDocument/2006/relationships/image" Target="../media/image46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47.png"/><Relationship Id="rId6" Type="http://schemas.openxmlformats.org/officeDocument/2006/relationships/image" Target="../media/image12.png"/><Relationship Id="rId7" Type="http://schemas.openxmlformats.org/officeDocument/2006/relationships/image" Target="../media/image48.svg"/><Relationship Id="rId8" Type="http://schemas.openxmlformats.org/officeDocument/2006/relationships/image" Target="../media/image4.png"/><Relationship Id="rId9" Type="http://schemas.openxmlformats.org/officeDocument/2006/relationships/image" Target="../media/image5.svg"/><Relationship Id="rId10" Type="http://schemas.openxmlformats.org/officeDocument/2006/relationships/image" Target="../media/image29.png"/><Relationship Id="rId11" Type="http://schemas.openxmlformats.org/officeDocument/2006/relationships/image" Target="../media/image30.svg"/><Relationship Id="rId12" Type="http://schemas.openxmlformats.org/officeDocument/2006/relationships/image" Target="../media/image49.png"/><Relationship Id="rId13" Type="http://schemas.openxmlformats.org/officeDocument/2006/relationships/image" Target="../media/image50.svg"/><Relationship Id="rId14" Type="http://schemas.openxmlformats.org/officeDocument/2006/relationships/image" Target="../media/image51.png"/><Relationship Id="rId15" Type="http://schemas.openxmlformats.org/officeDocument/2006/relationships/image" Target="../media/image52.svg"/><Relationship Id="rId16" Type="http://schemas.openxmlformats.org/officeDocument/2006/relationships/image" Target="../media/image53.png"/><Relationship Id="rId17" Type="http://schemas.openxmlformats.org/officeDocument/2006/relationships/image" Target="../media/image54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55.png"/><Relationship Id="rId6" Type="http://schemas.openxmlformats.org/officeDocument/2006/relationships/image" Target="../media/image56.svg"/><Relationship Id="rId7" Type="http://schemas.openxmlformats.org/officeDocument/2006/relationships/image" Target="../media/image57.png"/><Relationship Id="rId8" Type="http://schemas.openxmlformats.org/officeDocument/2006/relationships/image" Target="../media/image58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59.png"/><Relationship Id="rId6" Type="http://schemas.openxmlformats.org/officeDocument/2006/relationships/image" Target="../media/image60.svg"/><Relationship Id="rId7" Type="http://schemas.openxmlformats.org/officeDocument/2006/relationships/image" Target="../media/image61.png"/><Relationship Id="rId8" Type="http://schemas.openxmlformats.org/officeDocument/2006/relationships/image" Target="../media/image62.svg"/><Relationship Id="rId9" Type="http://schemas.openxmlformats.org/officeDocument/2006/relationships/image" Target="../media/image49.png"/><Relationship Id="rId10" Type="http://schemas.openxmlformats.org/officeDocument/2006/relationships/image" Target="../media/image50.svg"/><Relationship Id="rId11" Type="http://schemas.openxmlformats.org/officeDocument/2006/relationships/image" Target="../media/image53.png"/><Relationship Id="rId12" Type="http://schemas.openxmlformats.org/officeDocument/2006/relationships/image" Target="../media/image63.svg"/><Relationship Id="rId13" Type="http://schemas.openxmlformats.org/officeDocument/2006/relationships/image" Target="../media/image27.png"/><Relationship Id="rId14" Type="http://schemas.openxmlformats.org/officeDocument/2006/relationships/image" Target="../media/image64.svg"/><Relationship Id="rId15" Type="http://schemas.openxmlformats.org/officeDocument/2006/relationships/image" Target="../media/image65.png"/><Relationship Id="rId16" Type="http://schemas.openxmlformats.org/officeDocument/2006/relationships/image" Target="../media/image66.svg"/><Relationship Id="rId17" Type="http://schemas.openxmlformats.org/officeDocument/2006/relationships/image" Target="../media/image67.png"/><Relationship Id="rId18" Type="http://schemas.openxmlformats.org/officeDocument/2006/relationships/image" Target="../media/image68.svg"/><Relationship Id="rId19" Type="http://schemas.openxmlformats.org/officeDocument/2006/relationships/image" Target="../media/image69.png"/><Relationship Id="rId20" Type="http://schemas.openxmlformats.org/officeDocument/2006/relationships/image" Target="../media/image70.svg"/><Relationship Id="rId21" Type="http://schemas.openxmlformats.org/officeDocument/2006/relationships/image" Target="../media/image45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2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51.png"/><Relationship Id="rId6" Type="http://schemas.openxmlformats.org/officeDocument/2006/relationships/image" Target="../media/image52.svg"/><Relationship Id="rId7" Type="http://schemas.openxmlformats.org/officeDocument/2006/relationships/image" Target="../media/image23.png"/><Relationship Id="rId8" Type="http://schemas.openxmlformats.org/officeDocument/2006/relationships/image" Target="../media/image71.svg"/><Relationship Id="rId9" Type="http://schemas.openxmlformats.org/officeDocument/2006/relationships/image" Target="../media/image72.png"/><Relationship Id="rId10" Type="http://schemas.openxmlformats.org/officeDocument/2006/relationships/image" Target="../media/image73.svg"/><Relationship Id="rId11" Type="http://schemas.openxmlformats.org/officeDocument/2006/relationships/image" Target="../media/image14.png"/><Relationship Id="rId12" Type="http://schemas.openxmlformats.org/officeDocument/2006/relationships/image" Target="../media/image74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4.png"/><Relationship Id="rId6" Type="http://schemas.openxmlformats.org/officeDocument/2006/relationships/image" Target="../media/image75.svg"/><Relationship Id="rId7" Type="http://schemas.openxmlformats.org/officeDocument/2006/relationships/image" Target="../media/image32.png"/><Relationship Id="rId8" Type="http://schemas.openxmlformats.org/officeDocument/2006/relationships/image" Target="../media/image76.svg"/><Relationship Id="rId9" Type="http://schemas.openxmlformats.org/officeDocument/2006/relationships/image" Target="../media/image10.png"/><Relationship Id="rId10" Type="http://schemas.openxmlformats.org/officeDocument/2006/relationships/image" Target="../media/image77.svg"/><Relationship Id="rId11" Type="http://schemas.openxmlformats.org/officeDocument/2006/relationships/image" Target="../media/image78.png"/><Relationship Id="rId12" Type="http://schemas.openxmlformats.org/officeDocument/2006/relationships/image" Target="../media/image79.svg"/><Relationship Id="rId13" Type="http://schemas.openxmlformats.org/officeDocument/2006/relationships/image" Target="../media/image80.png"/><Relationship Id="rId14" Type="http://schemas.openxmlformats.org/officeDocument/2006/relationships/image" Target="../media/image81.svg"/><Relationship Id="rId15" Type="http://schemas.openxmlformats.org/officeDocument/2006/relationships/image" Target="../media/image82.svg"/><Relationship Id="rId16" Type="http://schemas.openxmlformats.org/officeDocument/2006/relationships/image" Target="../media/image83.svg"/><Relationship Id="rId17" Type="http://schemas.openxmlformats.org/officeDocument/2006/relationships/image" Target="../media/image84.svg"/><Relationship Id="rId18" Type="http://schemas.openxmlformats.org/officeDocument/2006/relationships/image" Target="../media/image85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svg"/><Relationship Id="rId5" Type="http://schemas.openxmlformats.org/officeDocument/2006/relationships/image" Target="../media/image55.png"/><Relationship Id="rId6" Type="http://schemas.openxmlformats.org/officeDocument/2006/relationships/image" Target="../media/image56.svg"/><Relationship Id="rId7" Type="http://schemas.openxmlformats.org/officeDocument/2006/relationships/image" Target="../media/image86.png"/><Relationship Id="rId8" Type="http://schemas.openxmlformats.org/officeDocument/2006/relationships/image" Target="../media/image87.svg"/><Relationship Id="rId9" Type="http://schemas.openxmlformats.org/officeDocument/2006/relationships/image" Target="../media/image88.png"/><Relationship Id="rId10" Type="http://schemas.openxmlformats.org/officeDocument/2006/relationships/image" Target="../media/image89.svg"/><Relationship Id="rId11" Type="http://schemas.openxmlformats.org/officeDocument/2006/relationships/image" Target="../media/image90.png"/><Relationship Id="rId12" Type="http://schemas.openxmlformats.org/officeDocument/2006/relationships/image" Target="../media/image91.svg"/><Relationship Id="rId13" Type="http://schemas.openxmlformats.org/officeDocument/2006/relationships/image" Target="../media/image92.png"/><Relationship Id="rId14" Type="http://schemas.openxmlformats.org/officeDocument/2006/relationships/image" Target="../media/image9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93808" y="73152"/>
            <a:ext cx="2212848" cy="2212848"/>
          </a:xfrm>
          <a:prstGeom prst="ellipse">
            <a:avLst/>
          </a:prstGeom>
          <a:solidFill>
            <a:srgbClr val="4E7CFF">
              <a:alpha val="17000"/>
            </a:srgbClr>
          </a:solidFill>
          <a:ln w="12700">
            <a:solidFill>
              <a:srgbClr val="4E7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" y="5413248"/>
            <a:ext cx="1444752" cy="1325880"/>
          </a:xfrm>
          <a:prstGeom prst="ellipse">
            <a:avLst/>
          </a:prstGeom>
          <a:solidFill>
            <a:srgbClr val="42D9C8">
              <a:alpha val="12000"/>
            </a:srgbClr>
          </a:solidFill>
          <a:ln w="12700">
            <a:solidFill>
              <a:srgbClr val="42D9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42D9C8"/>
          </a:solidFill>
          <a:ln w="12700">
            <a:solidFill>
              <a:srgbClr val="42D9C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632" y="34747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6517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LibCloud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09928" y="265176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2D9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1298448"/>
            <a:ext cx="649224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8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Reinventing the School Library</a:t>
            </a:r>
            <a:endParaRPr lang="en-US" sz="3800" dirty="0"/>
          </a:p>
          <a:p>
            <a:pPr marL="0" indent="0">
              <a:buNone/>
            </a:pPr>
            <a:r>
              <a:rPr lang="en-US" sz="38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with AI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594360" y="2999232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DDE8F4"/>
                </a:solidFill>
              </a:rPr>
              <a:t>LibCloud AI is a smart library operating system that unites readers, librarians, and school administrators in one Telegram ecosystem.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069848" y="4074305"/>
            <a:ext cx="987552" cy="292608"/>
          </a:xfrm>
          <a:prstGeom prst="roundRect">
            <a:avLst>
              <a:gd name="adj" fmla="val 50000"/>
            </a:avLst>
          </a:prstGeom>
          <a:solidFill>
            <a:srgbClr val="102A42"/>
          </a:solidFill>
          <a:ln w="8890">
            <a:solidFill>
              <a:srgbClr val="203A5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73806" y="4126230"/>
            <a:ext cx="1728572" cy="23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2D9C8"/>
                </a:solidFill>
              </a:rPr>
              <a:t>1 BOT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2549454" y="4061183"/>
            <a:ext cx="2322576" cy="292608"/>
          </a:xfrm>
          <a:prstGeom prst="roundRect">
            <a:avLst>
              <a:gd name="adj" fmla="val 50000"/>
            </a:avLst>
          </a:prstGeom>
          <a:solidFill>
            <a:srgbClr val="102A42"/>
          </a:solidFill>
          <a:ln w="8890">
            <a:solidFill>
              <a:srgbClr val="203A5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715026" y="4137660"/>
            <a:ext cx="21945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C857"/>
                </a:solidFill>
              </a:rPr>
              <a:t>10× FASTER DIGITIZATION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94360" y="4727448"/>
            <a:ext cx="5760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i="1" dirty="0">
                <a:solidFill>
                  <a:srgbClr val="79F4E7"/>
                </a:solidFill>
              </a:rPr>
              <a:t>From “Where is the book?” to “Which book is right for me?”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059168" y="713232"/>
            <a:ext cx="4526280" cy="5468112"/>
          </a:xfrm>
          <a:prstGeom prst="roundRect">
            <a:avLst>
              <a:gd name="adj" fmla="val 2626"/>
            </a:avLst>
          </a:prstGeom>
          <a:solidFill>
            <a:srgbClr val="0D1E31"/>
          </a:solidFill>
          <a:ln w="12700">
            <a:solidFill>
              <a:srgbClr val="1E3954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9" name="Image 1" descr="/mnt/data/libcloud_src/ppt/media/image-3-1.png"/>
          <p:cNvPicPr>
            <a:picLocks noChangeAspect="1"/>
          </p:cNvPicPr>
          <p:nvPr/>
        </p:nvPicPr>
        <p:blipFill>
          <a:blip r:embed="rId5"/>
          <a:srcRect l="5000" r="32094" b="12000"/>
          <a:stretch/>
        </p:blipFill>
        <p:spPr>
          <a:xfrm>
            <a:off x="7187184" y="841248"/>
            <a:ext cx="4270248" cy="370332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7187184" y="3429000"/>
            <a:ext cx="4270248" cy="1115568"/>
          </a:xfrm>
          <a:prstGeom prst="rect">
            <a:avLst/>
          </a:prstGeom>
          <a:solidFill>
            <a:srgbClr val="07111F">
              <a:alpha val="82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7461504" y="3703320"/>
            <a:ext cx="3730752" cy="1298448"/>
          </a:xfrm>
          <a:prstGeom prst="roundRect">
            <a:avLst>
              <a:gd name="adj" fmla="val 9155"/>
            </a:avLst>
          </a:prstGeom>
          <a:solidFill>
            <a:srgbClr val="0A1828"/>
          </a:solidFill>
          <a:ln w="12700">
            <a:solidFill>
              <a:srgbClr val="2C536E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671816" y="39319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42D9C8"/>
          </a:solidFill>
          <a:ln w="12700">
            <a:solidFill>
              <a:srgbClr val="42D9C8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777155" y="4037259"/>
            <a:ext cx="228234" cy="22823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257032" y="3877056"/>
            <a:ext cx="26517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7FBFF"/>
                </a:solidFill>
              </a:rPr>
              <a:t>“Find me an adventure book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7FBFF"/>
                </a:solidFill>
              </a:rPr>
              <a:t>for a 14-year-old.”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7671816" y="4626864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8FA3BA"/>
                </a:solidFill>
              </a:rPr>
              <a:t>AI recommends real books available in the school collection.</a:t>
            </a:r>
            <a:endParaRPr lang="en-US" sz="1050" dirty="0"/>
          </a:p>
        </p:txBody>
      </p:sp>
      <p:sp>
        <p:nvSpPr>
          <p:cNvPr id="26" name="Text 21"/>
          <p:cNvSpPr/>
          <p:nvPr/>
        </p:nvSpPr>
        <p:spPr>
          <a:xfrm>
            <a:off x="7269480" y="5522976"/>
            <a:ext cx="1143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42D9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10K+</a:t>
            </a:r>
            <a:endParaRPr lang="en-US" sz="2900" dirty="0"/>
          </a:p>
        </p:txBody>
      </p:sp>
      <p:sp>
        <p:nvSpPr>
          <p:cNvPr id="27" name="Text 22"/>
          <p:cNvSpPr/>
          <p:nvPr/>
        </p:nvSpPr>
        <p:spPr>
          <a:xfrm>
            <a:off x="7283196" y="5833872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FA3BA"/>
                </a:solidFill>
              </a:rPr>
              <a:t>schools</a:t>
            </a:r>
            <a:endParaRPr lang="en-US" sz="1150" dirty="0"/>
          </a:p>
        </p:txBody>
      </p:sp>
      <p:sp>
        <p:nvSpPr>
          <p:cNvPr id="28" name="Text 23"/>
          <p:cNvSpPr/>
          <p:nvPr/>
        </p:nvSpPr>
        <p:spPr>
          <a:xfrm>
            <a:off x="8723376" y="552297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4E7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6M+</a:t>
            </a:r>
            <a:endParaRPr lang="en-US" sz="2900" dirty="0"/>
          </a:p>
        </p:txBody>
      </p:sp>
      <p:sp>
        <p:nvSpPr>
          <p:cNvPr id="29" name="Text 24"/>
          <p:cNvSpPr/>
          <p:nvPr/>
        </p:nvSpPr>
        <p:spPr>
          <a:xfrm>
            <a:off x="8742852" y="583387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FA3BA"/>
                </a:solidFill>
              </a:rPr>
              <a:t>students</a:t>
            </a:r>
            <a:endParaRPr lang="en-US" sz="1150" dirty="0"/>
          </a:p>
        </p:txBody>
      </p:sp>
      <p:sp>
        <p:nvSpPr>
          <p:cNvPr id="30" name="Text 25"/>
          <p:cNvSpPr/>
          <p:nvPr/>
        </p:nvSpPr>
        <p:spPr>
          <a:xfrm>
            <a:off x="10149840" y="552297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C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</a:t>
            </a:r>
            <a:endParaRPr lang="en-US" sz="2900" dirty="0"/>
          </a:p>
        </p:txBody>
      </p:sp>
      <p:sp>
        <p:nvSpPr>
          <p:cNvPr id="31" name="Text 26"/>
          <p:cNvSpPr/>
          <p:nvPr/>
        </p:nvSpPr>
        <p:spPr>
          <a:xfrm>
            <a:off x="10149840" y="5834822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FA3BA"/>
                </a:solidFill>
              </a:rPr>
              <a:t>pilot region</a:t>
            </a:r>
            <a:endParaRPr lang="en-US" sz="115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F8D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93808" y="73152"/>
            <a:ext cx="2212848" cy="2212848"/>
          </a:xfrm>
          <a:prstGeom prst="ellipse">
            <a:avLst/>
          </a:prstGeom>
          <a:solidFill>
            <a:srgbClr val="4E7CFF">
              <a:alpha val="17000"/>
            </a:srgbClr>
          </a:solidFill>
          <a:ln w="12700">
            <a:solidFill>
              <a:srgbClr val="4E7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" y="5413248"/>
            <a:ext cx="1444752" cy="1325880"/>
          </a:xfrm>
          <a:prstGeom prst="ellipse">
            <a:avLst/>
          </a:prstGeom>
          <a:solidFill>
            <a:srgbClr val="42D9C8">
              <a:alpha val="12000"/>
            </a:srgbClr>
          </a:solidFill>
          <a:ln w="12700">
            <a:solidFill>
              <a:srgbClr val="42D9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42D9C8"/>
          </a:solidFill>
          <a:ln w="12700">
            <a:solidFill>
              <a:srgbClr val="42D9C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632" y="34747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6517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LibCloud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09928" y="265176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2D9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822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42D9C8"/>
                </a:solidFill>
              </a:rPr>
              <a:t>PROBLEM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07899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library exists. But the system does not work.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94360" y="1755648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8FA3BA"/>
                </a:solidFill>
              </a:rPr>
              <a:t>Today’s processes waste time, push readers away, and leave administrators without reliable data.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94360" y="2423160"/>
            <a:ext cx="3099816" cy="3163824"/>
          </a:xfrm>
          <a:prstGeom prst="roundRect">
            <a:avLst>
              <a:gd name="adj" fmla="val 3835"/>
            </a:avLst>
          </a:prstGeom>
          <a:solidFill>
            <a:srgbClr val="0E2035"/>
          </a:solidFill>
          <a:ln w="12700">
            <a:solidFill>
              <a:srgbClr val="203A53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081528" y="25603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1788F"/>
                </a:solidFill>
              </a:rPr>
              <a:t>01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850392" y="267919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6455" y="2815255"/>
            <a:ext cx="294803" cy="294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50392" y="3456432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7FBFF"/>
                </a:solidFill>
              </a:rPr>
              <a:t>Slow and outdated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850392" y="4005072"/>
            <a:ext cx="2578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8FA3BA"/>
                </a:solidFill>
              </a:rPr>
              <a:t>Paper logs, manual search, lost archives. Every operation takes unnecessary time.</a:t>
            </a:r>
            <a:endParaRPr lang="en-US" sz="1220" dirty="0"/>
          </a:p>
        </p:txBody>
      </p:sp>
      <p:sp>
        <p:nvSpPr>
          <p:cNvPr id="17" name="Shape 13"/>
          <p:cNvSpPr/>
          <p:nvPr/>
        </p:nvSpPr>
        <p:spPr>
          <a:xfrm>
            <a:off x="850392" y="5239512"/>
            <a:ext cx="2578608" cy="0"/>
          </a:xfrm>
          <a:prstGeom prst="line">
            <a:avLst/>
          </a:prstGeom>
          <a:noFill/>
          <a:ln w="25400">
            <a:solidFill>
              <a:srgbClr val="FF6B6B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087368" y="2423160"/>
            <a:ext cx="3099816" cy="3163824"/>
          </a:xfrm>
          <a:prstGeom prst="roundRect">
            <a:avLst>
              <a:gd name="adj" fmla="val 3835"/>
            </a:avLst>
          </a:prstGeom>
          <a:solidFill>
            <a:srgbClr val="0E2035"/>
          </a:solidFill>
          <a:ln w="12700">
            <a:solidFill>
              <a:srgbClr val="203A53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6574536" y="25603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1788F"/>
                </a:solidFill>
              </a:rPr>
              <a:t>02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4343400" y="267919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479463" y="2815255"/>
            <a:ext cx="294803" cy="294803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343400" y="3456432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7FBFF"/>
                </a:solidFill>
              </a:rPr>
              <a:t>Inconvenient for readers</a:t>
            </a:r>
            <a:endParaRPr lang="en-US" sz="1900" dirty="0"/>
          </a:p>
        </p:txBody>
      </p:sp>
      <p:sp>
        <p:nvSpPr>
          <p:cNvPr id="23" name="Text 18"/>
          <p:cNvSpPr/>
          <p:nvPr/>
        </p:nvSpPr>
        <p:spPr>
          <a:xfrm>
            <a:off x="4343400" y="4005072"/>
            <a:ext cx="2578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8FA3BA"/>
                </a:solidFill>
              </a:rPr>
              <a:t>Students must physically visit the library just to find out whether a book is available.</a:t>
            </a:r>
            <a:endParaRPr lang="en-US" sz="1220" dirty="0"/>
          </a:p>
        </p:txBody>
      </p:sp>
      <p:sp>
        <p:nvSpPr>
          <p:cNvPr id="24" name="Shape 19"/>
          <p:cNvSpPr/>
          <p:nvPr/>
        </p:nvSpPr>
        <p:spPr>
          <a:xfrm>
            <a:off x="4343400" y="5239512"/>
            <a:ext cx="2578608" cy="0"/>
          </a:xfrm>
          <a:prstGeom prst="line">
            <a:avLst/>
          </a:prstGeom>
          <a:noFill/>
          <a:ln w="25400">
            <a:solidFill>
              <a:srgbClr val="FFC857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580376" y="2423160"/>
            <a:ext cx="3099816" cy="3163824"/>
          </a:xfrm>
          <a:prstGeom prst="roundRect">
            <a:avLst>
              <a:gd name="adj" fmla="val 3835"/>
            </a:avLst>
          </a:prstGeom>
          <a:solidFill>
            <a:srgbClr val="0E2035"/>
          </a:solidFill>
          <a:ln w="12700">
            <a:solidFill>
              <a:srgbClr val="203A53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10067544" y="2560320"/>
            <a:ext cx="402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61788F"/>
                </a:solidFill>
              </a:rPr>
              <a:t>03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7836408" y="267919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4E7CFF"/>
          </a:solidFill>
          <a:ln w="12700">
            <a:solidFill>
              <a:srgbClr val="4E7CFF"/>
            </a:solidFill>
            <a:prstDash val="solid"/>
          </a:ln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72471" y="2815255"/>
            <a:ext cx="294803" cy="294803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7836408" y="3456432"/>
            <a:ext cx="2578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F7FBFF"/>
                </a:solidFill>
              </a:rPr>
              <a:t>Management without visibility</a:t>
            </a:r>
            <a:endParaRPr lang="en-US" sz="1900" dirty="0"/>
          </a:p>
        </p:txBody>
      </p:sp>
      <p:sp>
        <p:nvSpPr>
          <p:cNvPr id="30" name="Text 24"/>
          <p:cNvSpPr/>
          <p:nvPr/>
        </p:nvSpPr>
        <p:spPr>
          <a:xfrm>
            <a:off x="7836408" y="4005072"/>
            <a:ext cx="25786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dirty="0">
                <a:solidFill>
                  <a:srgbClr val="8FA3BA"/>
                </a:solidFill>
              </a:rPr>
              <a:t>There is no single real-time view of inventory, loans, and overdue borrowers.</a:t>
            </a:r>
            <a:endParaRPr lang="en-US" sz="1220" dirty="0"/>
          </a:p>
        </p:txBody>
      </p:sp>
      <p:sp>
        <p:nvSpPr>
          <p:cNvPr id="31" name="Shape 25"/>
          <p:cNvSpPr/>
          <p:nvPr/>
        </p:nvSpPr>
        <p:spPr>
          <a:xfrm>
            <a:off x="7836408" y="5239512"/>
            <a:ext cx="2578608" cy="0"/>
          </a:xfrm>
          <a:prstGeom prst="line">
            <a:avLst/>
          </a:prstGeom>
          <a:noFill/>
          <a:ln w="25400">
            <a:solidFill>
              <a:srgbClr val="4E7CFF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94360" y="5870448"/>
            <a:ext cx="713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2D9C8"/>
                </a:solidFill>
              </a:rPr>
              <a:t>Result: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1298448" y="5852160"/>
            <a:ext cx="6583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DDE8F4"/>
                </a:solidFill>
              </a:rPr>
              <a:t>fewer books read • more manual work • decisions based on guesswork</a:t>
            </a:r>
            <a:endParaRPr lang="en-US" sz="1250" dirty="0"/>
          </a:p>
        </p:txBody>
      </p:sp>
      <p:sp>
        <p:nvSpPr>
          <p:cNvPr id="34" name="Shape 28"/>
          <p:cNvSpPr/>
          <p:nvPr/>
        </p:nvSpPr>
        <p:spPr>
          <a:xfrm>
            <a:off x="8449056" y="5760720"/>
            <a:ext cx="3136392" cy="292608"/>
          </a:xfrm>
          <a:prstGeom prst="roundRect">
            <a:avLst>
              <a:gd name="adj" fmla="val 50000"/>
            </a:avLst>
          </a:prstGeom>
          <a:solidFill>
            <a:srgbClr val="102A42"/>
          </a:solidFill>
          <a:ln w="8890">
            <a:solidFill>
              <a:srgbClr val="203A53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8513064" y="5820156"/>
            <a:ext cx="30083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7FBFF"/>
                </a:solidFill>
              </a:rPr>
              <a:t>THE PROBLEM IS NOT TECHNOLOGY — IT IS THE EXPERIENCE</a:t>
            </a:r>
            <a:endParaRPr lang="en-US" sz="10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F8D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93808" y="73152"/>
            <a:ext cx="2212848" cy="2212848"/>
          </a:xfrm>
          <a:prstGeom prst="ellipse">
            <a:avLst/>
          </a:prstGeom>
          <a:solidFill>
            <a:srgbClr val="4E7CFF">
              <a:alpha val="17000"/>
            </a:srgbClr>
          </a:solidFill>
          <a:ln w="12700">
            <a:solidFill>
              <a:srgbClr val="4E7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" y="5413248"/>
            <a:ext cx="1444752" cy="1325880"/>
          </a:xfrm>
          <a:prstGeom prst="ellipse">
            <a:avLst/>
          </a:prstGeom>
          <a:solidFill>
            <a:srgbClr val="42D9C8">
              <a:alpha val="12000"/>
            </a:srgbClr>
          </a:solidFill>
          <a:ln w="12700">
            <a:solidFill>
              <a:srgbClr val="42D9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42D9C8"/>
          </a:solidFill>
          <a:ln w="12700">
            <a:solidFill>
              <a:srgbClr val="42D9C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632" y="34747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6517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LibCloud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09928" y="265176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2D9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822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42D9C8"/>
                </a:solidFill>
              </a:rPr>
              <a:t>SOLUTION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07899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LibCloud: every process in one Telegram ecosystem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94360" y="1755648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8FA3BA"/>
                </a:solidFill>
              </a:rPr>
              <a:t>No extra app, complex server setup, or programming knowledge required.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58368" y="2542032"/>
            <a:ext cx="1920240" cy="1847088"/>
          </a:xfrm>
          <a:prstGeom prst="roundRect">
            <a:avLst>
              <a:gd name="adj" fmla="val 6436"/>
            </a:avLst>
          </a:prstGeom>
          <a:solidFill>
            <a:srgbClr val="0E2035"/>
          </a:solidFill>
          <a:ln w="12700">
            <a:solidFill>
              <a:srgbClr val="203A53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316736" y="2798064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02A42"/>
          </a:solidFill>
          <a:ln w="12700">
            <a:solidFill>
              <a:srgbClr val="102A42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461577" y="2942905"/>
            <a:ext cx="313822" cy="31382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22960" y="354787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BFF"/>
                </a:solidFill>
              </a:rPr>
              <a:t>Excel import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795528" y="38679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8FA3BA"/>
                </a:solidFill>
              </a:rPr>
              <a:t>Thousands of books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8FA3BA"/>
                </a:solidFill>
              </a:rPr>
              <a:t>in a single upload</a:t>
            </a:r>
            <a:endParaRPr lang="en-US" sz="980" dirty="0"/>
          </a:p>
        </p:txBody>
      </p:sp>
      <p:sp>
        <p:nvSpPr>
          <p:cNvPr id="16" name="Shape 12"/>
          <p:cNvSpPr/>
          <p:nvPr/>
        </p:nvSpPr>
        <p:spPr>
          <a:xfrm>
            <a:off x="2615184" y="3465576"/>
            <a:ext cx="347472" cy="0"/>
          </a:xfrm>
          <a:prstGeom prst="line">
            <a:avLst/>
          </a:prstGeom>
          <a:noFill/>
          <a:ln w="25400">
            <a:solidFill>
              <a:srgbClr val="42D9C8"/>
            </a:solidFill>
            <a:prstDash val="solid"/>
            <a:headEnd type="none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3017520" y="2542032"/>
            <a:ext cx="1920240" cy="1847088"/>
          </a:xfrm>
          <a:prstGeom prst="roundRect">
            <a:avLst>
              <a:gd name="adj" fmla="val 6436"/>
            </a:avLst>
          </a:prstGeom>
          <a:solidFill>
            <a:srgbClr val="0E2035"/>
          </a:solidFill>
          <a:ln w="12700">
            <a:solidFill>
              <a:srgbClr val="42D9C8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3675888" y="2798064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42D9C8"/>
          </a:solidFill>
          <a:ln w="12700">
            <a:solidFill>
              <a:srgbClr val="42D9C8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20729" y="2942905"/>
            <a:ext cx="313822" cy="31382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182112" y="354787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BFF"/>
                </a:solidFill>
              </a:rPr>
              <a:t>LibCloud Core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3154680" y="38679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8FA3BA"/>
                </a:solidFill>
              </a:rPr>
              <a:t>A separate secure database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8FA3BA"/>
                </a:solidFill>
              </a:rPr>
              <a:t>for every school</a:t>
            </a:r>
            <a:endParaRPr lang="en-US" sz="980" dirty="0"/>
          </a:p>
        </p:txBody>
      </p:sp>
      <p:sp>
        <p:nvSpPr>
          <p:cNvPr id="22" name="Shape 17"/>
          <p:cNvSpPr/>
          <p:nvPr/>
        </p:nvSpPr>
        <p:spPr>
          <a:xfrm>
            <a:off x="4974336" y="3465576"/>
            <a:ext cx="347472" cy="0"/>
          </a:xfrm>
          <a:prstGeom prst="line">
            <a:avLst/>
          </a:prstGeom>
          <a:noFill/>
          <a:ln w="25400">
            <a:solidFill>
              <a:srgbClr val="42D9C8"/>
            </a:solidFill>
            <a:prstDash val="solid"/>
            <a:headEnd type="none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5376672" y="2542032"/>
            <a:ext cx="1920240" cy="1847088"/>
          </a:xfrm>
          <a:prstGeom prst="roundRect">
            <a:avLst>
              <a:gd name="adj" fmla="val 6436"/>
            </a:avLst>
          </a:prstGeom>
          <a:solidFill>
            <a:srgbClr val="0E2035"/>
          </a:solidFill>
          <a:ln w="12700">
            <a:solidFill>
              <a:srgbClr val="203A53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035040" y="2798064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02A42"/>
          </a:solidFill>
          <a:ln w="12700">
            <a:solidFill>
              <a:srgbClr val="102A42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79881" y="2942905"/>
            <a:ext cx="313822" cy="31382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541264" y="354787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BFF"/>
                </a:solidFill>
              </a:rPr>
              <a:t>Telegram Web App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5513832" y="38679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8FA3BA"/>
                </a:solidFill>
              </a:rPr>
              <a:t>Search, reserve,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8FA3BA"/>
                </a:solidFill>
              </a:rPr>
              <a:t>profile, and history</a:t>
            </a:r>
            <a:endParaRPr lang="en-US" sz="980" dirty="0"/>
          </a:p>
        </p:txBody>
      </p:sp>
      <p:sp>
        <p:nvSpPr>
          <p:cNvPr id="28" name="Shape 22"/>
          <p:cNvSpPr/>
          <p:nvPr/>
        </p:nvSpPr>
        <p:spPr>
          <a:xfrm>
            <a:off x="7333488" y="3465576"/>
            <a:ext cx="347472" cy="0"/>
          </a:xfrm>
          <a:prstGeom prst="line">
            <a:avLst/>
          </a:prstGeom>
          <a:noFill/>
          <a:ln w="25400">
            <a:solidFill>
              <a:srgbClr val="42D9C8"/>
            </a:solidFill>
            <a:prstDash val="solid"/>
            <a:headEnd type="none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7735824" y="2542032"/>
            <a:ext cx="1920240" cy="1847088"/>
          </a:xfrm>
          <a:prstGeom prst="roundRect">
            <a:avLst>
              <a:gd name="adj" fmla="val 6436"/>
            </a:avLst>
          </a:prstGeom>
          <a:solidFill>
            <a:srgbClr val="0E2035"/>
          </a:solidFill>
          <a:ln w="12700">
            <a:solidFill>
              <a:srgbClr val="203A53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8394192" y="2798064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102A42"/>
          </a:solidFill>
          <a:ln w="12700">
            <a:solidFill>
              <a:srgbClr val="102A42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539033" y="2942905"/>
            <a:ext cx="313822" cy="313822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900416" y="3547872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7FBFF"/>
                </a:solidFill>
              </a:rPr>
              <a:t>Automation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7872984" y="38679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dirty="0">
                <a:solidFill>
                  <a:srgbClr val="8FA3BA"/>
                </a:solidFill>
              </a:rPr>
              <a:t>Automatic reminders</a:t>
            </a:r>
            <a:endParaRPr lang="en-US" sz="980" dirty="0"/>
          </a:p>
          <a:p>
            <a:pPr marL="0" indent="0" algn="ctr">
              <a:buNone/>
            </a:pPr>
            <a:r>
              <a:rPr lang="en-US" sz="980" dirty="0">
                <a:solidFill>
                  <a:srgbClr val="8FA3BA"/>
                </a:solidFill>
              </a:rPr>
              <a:t>for due dates and overdue loans</a:t>
            </a:r>
            <a:endParaRPr lang="en-US" sz="980" dirty="0"/>
          </a:p>
        </p:txBody>
      </p:sp>
      <p:sp>
        <p:nvSpPr>
          <p:cNvPr id="34" name="Shape 27"/>
          <p:cNvSpPr/>
          <p:nvPr/>
        </p:nvSpPr>
        <p:spPr>
          <a:xfrm>
            <a:off x="10040112" y="2322576"/>
            <a:ext cx="1554480" cy="2807208"/>
          </a:xfrm>
          <a:prstGeom prst="roundRect">
            <a:avLst>
              <a:gd name="adj" fmla="val 7647"/>
            </a:avLst>
          </a:prstGeom>
          <a:solidFill>
            <a:srgbClr val="F7FBFF"/>
          </a:solidFill>
          <a:ln w="12700">
            <a:solidFill>
              <a:srgbClr val="CBD9E6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10177272" y="2487168"/>
            <a:ext cx="1271016" cy="237744"/>
          </a:xfrm>
          <a:prstGeom prst="roundRect">
            <a:avLst>
              <a:gd name="adj" fmla="val 38462"/>
            </a:avLst>
          </a:prstGeom>
          <a:solidFill>
            <a:srgbClr val="EAF1F7"/>
          </a:solidFill>
          <a:ln w="12700">
            <a:solidFill>
              <a:srgbClr val="EAF1F7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10259568" y="2542032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b="1" dirty="0">
                <a:solidFill>
                  <a:srgbClr val="34506A"/>
                </a:solidFill>
              </a:rPr>
              <a:t>Admin</a:t>
            </a:r>
            <a:endParaRPr lang="en-US" sz="750" dirty="0"/>
          </a:p>
        </p:txBody>
      </p:sp>
      <p:sp>
        <p:nvSpPr>
          <p:cNvPr id="37" name="Shape 30"/>
          <p:cNvSpPr/>
          <p:nvPr/>
        </p:nvSpPr>
        <p:spPr>
          <a:xfrm>
            <a:off x="11146536" y="2532888"/>
            <a:ext cx="91440" cy="91440"/>
          </a:xfrm>
          <a:prstGeom prst="ellipse">
            <a:avLst/>
          </a:prstGeom>
          <a:solidFill>
            <a:srgbClr val="5DE2A5"/>
          </a:solidFill>
          <a:ln w="12700">
            <a:solidFill>
              <a:srgbClr val="5DE2A5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10204704" y="2907792"/>
            <a:ext cx="694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2032"/>
                </a:solidFill>
              </a:rPr>
              <a:t>1 284</a:t>
            </a:r>
            <a:endParaRPr lang="en-US" sz="2200" dirty="0"/>
          </a:p>
        </p:txBody>
      </p:sp>
      <p:sp>
        <p:nvSpPr>
          <p:cNvPr id="39" name="Text 32"/>
          <p:cNvSpPr/>
          <p:nvPr/>
        </p:nvSpPr>
        <p:spPr>
          <a:xfrm>
            <a:off x="10204704" y="3218688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6B7E90"/>
                </a:solidFill>
              </a:rPr>
              <a:t>books in database</a:t>
            </a:r>
            <a:endParaRPr lang="en-US" sz="840" dirty="0"/>
          </a:p>
        </p:txBody>
      </p:sp>
      <p:sp>
        <p:nvSpPr>
          <p:cNvPr id="40" name="Text 33"/>
          <p:cNvSpPr/>
          <p:nvPr/>
        </p:nvSpPr>
        <p:spPr>
          <a:xfrm>
            <a:off x="10204704" y="3639312"/>
            <a:ext cx="10058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40556A"/>
                </a:solidFill>
              </a:rPr>
              <a:t>Today's loans</a:t>
            </a:r>
            <a:endParaRPr lang="en-US" sz="840" dirty="0"/>
          </a:p>
        </p:txBody>
      </p:sp>
      <p:sp>
        <p:nvSpPr>
          <p:cNvPr id="41" name="Shape 34"/>
          <p:cNvSpPr/>
          <p:nvPr/>
        </p:nvSpPr>
        <p:spPr>
          <a:xfrm>
            <a:off x="10222992" y="3931920"/>
            <a:ext cx="128016" cy="658368"/>
          </a:xfrm>
          <a:prstGeom prst="roundRect">
            <a:avLst>
              <a:gd name="adj" fmla="val 21429"/>
            </a:avLst>
          </a:prstGeom>
          <a:solidFill>
            <a:srgbClr val="4E7CFF">
              <a:alpha val="7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2" name="Shape 35"/>
          <p:cNvSpPr/>
          <p:nvPr/>
        </p:nvSpPr>
        <p:spPr>
          <a:xfrm>
            <a:off x="10433304" y="3675888"/>
            <a:ext cx="128016" cy="914400"/>
          </a:xfrm>
          <a:prstGeom prst="roundRect">
            <a:avLst>
              <a:gd name="adj" fmla="val 21429"/>
            </a:avLst>
          </a:prstGeom>
          <a:solidFill>
            <a:srgbClr val="4E7CFF">
              <a:alpha val="7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Shape 36"/>
          <p:cNvSpPr/>
          <p:nvPr/>
        </p:nvSpPr>
        <p:spPr>
          <a:xfrm>
            <a:off x="10643616" y="4151376"/>
            <a:ext cx="128016" cy="438912"/>
          </a:xfrm>
          <a:prstGeom prst="roundRect">
            <a:avLst>
              <a:gd name="adj" fmla="val 21429"/>
            </a:avLst>
          </a:prstGeom>
          <a:solidFill>
            <a:srgbClr val="4E7CFF">
              <a:alpha val="7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Shape 37"/>
          <p:cNvSpPr/>
          <p:nvPr/>
        </p:nvSpPr>
        <p:spPr>
          <a:xfrm>
            <a:off x="10853928" y="3511296"/>
            <a:ext cx="128016" cy="1078992"/>
          </a:xfrm>
          <a:prstGeom prst="roundRect">
            <a:avLst>
              <a:gd name="adj" fmla="val 21429"/>
            </a:avLst>
          </a:prstGeom>
          <a:solidFill>
            <a:srgbClr val="42D9C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11064240" y="3785616"/>
            <a:ext cx="128016" cy="804672"/>
          </a:xfrm>
          <a:prstGeom prst="roundRect">
            <a:avLst>
              <a:gd name="adj" fmla="val 21429"/>
            </a:avLst>
          </a:prstGeom>
          <a:solidFill>
            <a:srgbClr val="4E7CFF">
              <a:alpha val="7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10204704" y="479145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b="1" dirty="0">
                <a:solidFill>
                  <a:srgbClr val="34506A"/>
                </a:solidFill>
              </a:rPr>
              <a:t>Real-time</a:t>
            </a:r>
            <a:endParaRPr lang="en-US" sz="840" dirty="0"/>
          </a:p>
        </p:txBody>
      </p:sp>
      <p:sp>
        <p:nvSpPr>
          <p:cNvPr id="47" name="Text 40"/>
          <p:cNvSpPr/>
          <p:nvPr/>
        </p:nvSpPr>
        <p:spPr>
          <a:xfrm>
            <a:off x="10762488" y="4791456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40" dirty="0">
                <a:solidFill>
                  <a:srgbClr val="6B7E90"/>
                </a:solidFill>
              </a:rPr>
              <a:t>analytics</a:t>
            </a:r>
            <a:endParaRPr lang="en-US" sz="840" dirty="0"/>
          </a:p>
        </p:txBody>
      </p:sp>
      <p:sp>
        <p:nvSpPr>
          <p:cNvPr id="48" name="Text 41"/>
          <p:cNvSpPr/>
          <p:nvPr/>
        </p:nvSpPr>
        <p:spPr>
          <a:xfrm>
            <a:off x="731520" y="518464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42D9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 second</a:t>
            </a:r>
            <a:endParaRPr lang="en-US" sz="2900" dirty="0"/>
          </a:p>
        </p:txBody>
      </p:sp>
      <p:sp>
        <p:nvSpPr>
          <p:cNvPr id="49" name="Text 42"/>
          <p:cNvSpPr/>
          <p:nvPr/>
        </p:nvSpPr>
        <p:spPr>
          <a:xfrm>
            <a:off x="731520" y="56418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FA3BA"/>
                </a:solidFill>
              </a:rPr>
              <a:t>Excel import</a:t>
            </a:r>
            <a:endParaRPr lang="en-US" sz="1150" dirty="0"/>
          </a:p>
        </p:txBody>
      </p:sp>
      <p:sp>
        <p:nvSpPr>
          <p:cNvPr id="50" name="Text 43"/>
          <p:cNvSpPr/>
          <p:nvPr/>
        </p:nvSpPr>
        <p:spPr>
          <a:xfrm>
            <a:off x="3566160" y="518464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4E7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1–2 minutes</a:t>
            </a:r>
            <a:endParaRPr lang="en-US" sz="2900" dirty="0"/>
          </a:p>
        </p:txBody>
      </p:sp>
      <p:sp>
        <p:nvSpPr>
          <p:cNvPr id="51" name="Text 44"/>
          <p:cNvSpPr/>
          <p:nvPr/>
        </p:nvSpPr>
        <p:spPr>
          <a:xfrm>
            <a:off x="3566160" y="56418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FA3BA"/>
                </a:solidFill>
              </a:rPr>
              <a:t>to learn</a:t>
            </a:r>
            <a:endParaRPr lang="en-US" sz="1150" dirty="0"/>
          </a:p>
        </p:txBody>
      </p:sp>
      <p:sp>
        <p:nvSpPr>
          <p:cNvPr id="52" name="Text 45"/>
          <p:cNvSpPr/>
          <p:nvPr/>
        </p:nvSpPr>
        <p:spPr>
          <a:xfrm>
            <a:off x="6400800" y="5184648"/>
            <a:ext cx="2103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FFC85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24/7</a:t>
            </a:r>
            <a:endParaRPr lang="en-US" sz="2900" dirty="0"/>
          </a:p>
        </p:txBody>
      </p:sp>
      <p:sp>
        <p:nvSpPr>
          <p:cNvPr id="53" name="Text 46"/>
          <p:cNvSpPr/>
          <p:nvPr/>
        </p:nvSpPr>
        <p:spPr>
          <a:xfrm>
            <a:off x="6400800" y="564184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FA3BA"/>
                </a:solidFill>
              </a:rPr>
              <a:t>auto-reminders</a:t>
            </a:r>
            <a:endParaRPr lang="en-US" sz="1150" dirty="0"/>
          </a:p>
        </p:txBody>
      </p:sp>
      <p:sp>
        <p:nvSpPr>
          <p:cNvPr id="54" name="Text 47"/>
          <p:cNvSpPr/>
          <p:nvPr/>
        </p:nvSpPr>
        <p:spPr>
          <a:xfrm>
            <a:off x="8915400" y="5605272"/>
            <a:ext cx="25968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7FBFF"/>
                </a:solidFill>
              </a:rPr>
              <a:t>This is the core platform. The next leap: AI.</a:t>
            </a:r>
            <a:endParaRPr lang="en-US" sz="1600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F8D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93808" y="73152"/>
            <a:ext cx="2212848" cy="2212848"/>
          </a:xfrm>
          <a:prstGeom prst="ellipse">
            <a:avLst/>
          </a:prstGeom>
          <a:solidFill>
            <a:srgbClr val="4E7CFF">
              <a:alpha val="17000"/>
            </a:srgbClr>
          </a:solidFill>
          <a:ln w="12700">
            <a:solidFill>
              <a:srgbClr val="4E7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" y="5413248"/>
            <a:ext cx="1444752" cy="1325880"/>
          </a:xfrm>
          <a:prstGeom prst="ellipse">
            <a:avLst/>
          </a:prstGeom>
          <a:solidFill>
            <a:srgbClr val="42D9C8">
              <a:alpha val="12000"/>
            </a:srgbClr>
          </a:solidFill>
          <a:ln w="12700">
            <a:solidFill>
              <a:srgbClr val="42D9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42D9C8"/>
          </a:solidFill>
          <a:ln w="12700">
            <a:solidFill>
              <a:srgbClr val="42D9C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632" y="34747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6517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LibCloud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09928" y="265176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2D9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822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42D9C8"/>
                </a:solidFill>
              </a:rPr>
              <a:t>AI TRANSFORMATION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07899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automation to an intelligent ecosystem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94360" y="1755648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8FA3BA"/>
                </a:solidFill>
              </a:rPr>
              <a:t>AI is not a separate chatbot — it is a decision layer built on top of the catalog, loans, and student behavior.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1792" y="2487168"/>
            <a:ext cx="3154680" cy="3200400"/>
          </a:xfrm>
          <a:prstGeom prst="roundRect">
            <a:avLst>
              <a:gd name="adj" fmla="val 3768"/>
            </a:avLst>
          </a:prstGeom>
          <a:solidFill>
            <a:srgbClr val="0B192A"/>
          </a:solidFill>
          <a:ln w="12700">
            <a:solidFill>
              <a:srgbClr val="243D57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868680" y="2706624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182B40"/>
          </a:solidFill>
          <a:ln w="8890">
            <a:solidFill>
              <a:srgbClr val="29456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32688" y="2766060"/>
            <a:ext cx="7132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8FA3BA"/>
                </a:solidFill>
              </a:rPr>
              <a:t>TODAY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68680" y="315468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7FBFF"/>
                </a:solidFill>
              </a:rPr>
              <a:t>LibCloud Core</a:t>
            </a:r>
            <a:endParaRPr lang="en-US" sz="2300" dirty="0"/>
          </a:p>
        </p:txBody>
      </p:sp>
      <p:sp>
        <p:nvSpPr>
          <p:cNvPr id="15" name="Shape 12"/>
          <p:cNvSpPr/>
          <p:nvPr/>
        </p:nvSpPr>
        <p:spPr>
          <a:xfrm>
            <a:off x="896112" y="3694176"/>
            <a:ext cx="292608" cy="292608"/>
          </a:xfrm>
          <a:prstGeom prst="roundRect">
            <a:avLst>
              <a:gd name="adj" fmla="val 31250"/>
            </a:avLst>
          </a:prstGeom>
          <a:solidFill>
            <a:srgbClr val="132A42"/>
          </a:solidFill>
          <a:ln w="12700">
            <a:solidFill>
              <a:srgbClr val="132A42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66338" y="3764402"/>
            <a:ext cx="152156" cy="1521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307592" y="3730752"/>
            <a:ext cx="1600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DDE8F4"/>
                </a:solidFill>
              </a:rPr>
              <a:t>Catalog</a:t>
            </a:r>
            <a:endParaRPr lang="en-US" sz="1120" dirty="0"/>
          </a:p>
        </p:txBody>
      </p:sp>
      <p:sp>
        <p:nvSpPr>
          <p:cNvPr id="18" name="Shape 14"/>
          <p:cNvSpPr/>
          <p:nvPr/>
        </p:nvSpPr>
        <p:spPr>
          <a:xfrm>
            <a:off x="896112" y="4114800"/>
            <a:ext cx="292608" cy="292608"/>
          </a:xfrm>
          <a:prstGeom prst="roundRect">
            <a:avLst>
              <a:gd name="adj" fmla="val 31250"/>
            </a:avLst>
          </a:prstGeom>
          <a:solidFill>
            <a:srgbClr val="132A42"/>
          </a:solidFill>
          <a:ln w="12700">
            <a:solidFill>
              <a:srgbClr val="132A42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6338" y="4185026"/>
            <a:ext cx="152156" cy="15215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307592" y="4151376"/>
            <a:ext cx="1600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DDE8F4"/>
                </a:solidFill>
              </a:rPr>
              <a:t>Reservations &amp; loans</a:t>
            </a:r>
            <a:endParaRPr lang="en-US" sz="1120" dirty="0"/>
          </a:p>
        </p:txBody>
      </p:sp>
      <p:sp>
        <p:nvSpPr>
          <p:cNvPr id="21" name="Shape 16"/>
          <p:cNvSpPr/>
          <p:nvPr/>
        </p:nvSpPr>
        <p:spPr>
          <a:xfrm>
            <a:off x="896112" y="4535424"/>
            <a:ext cx="292608" cy="292608"/>
          </a:xfrm>
          <a:prstGeom prst="roundRect">
            <a:avLst>
              <a:gd name="adj" fmla="val 31250"/>
            </a:avLst>
          </a:prstGeom>
          <a:solidFill>
            <a:srgbClr val="132A42"/>
          </a:solidFill>
          <a:ln w="12700">
            <a:solidFill>
              <a:srgbClr val="132A42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6338" y="4605650"/>
            <a:ext cx="152156" cy="1521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307592" y="4572000"/>
            <a:ext cx="1600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DDE8F4"/>
                </a:solidFill>
              </a:rPr>
              <a:t>Reminders</a:t>
            </a:r>
            <a:endParaRPr lang="en-US" sz="1120" dirty="0"/>
          </a:p>
        </p:txBody>
      </p:sp>
      <p:sp>
        <p:nvSpPr>
          <p:cNvPr id="24" name="Shape 18"/>
          <p:cNvSpPr/>
          <p:nvPr/>
        </p:nvSpPr>
        <p:spPr>
          <a:xfrm>
            <a:off x="896112" y="4956048"/>
            <a:ext cx="292608" cy="292608"/>
          </a:xfrm>
          <a:prstGeom prst="roundRect">
            <a:avLst>
              <a:gd name="adj" fmla="val 31250"/>
            </a:avLst>
          </a:prstGeom>
          <a:solidFill>
            <a:srgbClr val="132A42"/>
          </a:solidFill>
          <a:ln w="12700">
            <a:solidFill>
              <a:srgbClr val="132A42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6338" y="5026274"/>
            <a:ext cx="152156" cy="15215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07592" y="4992624"/>
            <a:ext cx="16002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20" dirty="0">
                <a:solidFill>
                  <a:srgbClr val="DDE8F4"/>
                </a:solidFill>
              </a:rPr>
              <a:t>Analytics</a:t>
            </a:r>
            <a:endParaRPr lang="en-US" sz="1120" dirty="0"/>
          </a:p>
        </p:txBody>
      </p:sp>
      <p:sp>
        <p:nvSpPr>
          <p:cNvPr id="27" name="Shape 20"/>
          <p:cNvSpPr/>
          <p:nvPr/>
        </p:nvSpPr>
        <p:spPr>
          <a:xfrm>
            <a:off x="4041648" y="3447288"/>
            <a:ext cx="987552" cy="969264"/>
          </a:xfrm>
          <a:prstGeom prst="chevron">
            <a:avLst/>
          </a:prstGeom>
          <a:solidFill>
            <a:srgbClr val="42D9C8"/>
          </a:solidFill>
          <a:ln w="12700">
            <a:solidFill>
              <a:srgbClr val="42D9C8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5303520" y="2487168"/>
            <a:ext cx="1810512" cy="3200400"/>
          </a:xfrm>
          <a:prstGeom prst="roundRect">
            <a:avLst>
              <a:gd name="adj" fmla="val 6566"/>
            </a:avLst>
          </a:prstGeom>
          <a:solidFill>
            <a:srgbClr val="0E2035"/>
          </a:solidFill>
          <a:ln w="12700">
            <a:solidFill>
              <a:srgbClr val="42D9C8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0" name="Shape 22"/>
          <p:cNvSpPr/>
          <p:nvPr/>
        </p:nvSpPr>
        <p:spPr>
          <a:xfrm>
            <a:off x="5907024" y="272491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42D9C8"/>
          </a:solidFill>
          <a:ln w="12700">
            <a:solidFill>
              <a:srgbClr val="42D9C8"/>
            </a:solidFill>
            <a:prstDash val="solid"/>
          </a:ln>
        </p:spPr>
      </p:sp>
      <p:pic>
        <p:nvPicPr>
          <p:cNvPr id="31" name="Image 6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051865" y="2869753"/>
            <a:ext cx="313822" cy="31382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5431536" y="34930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BFF"/>
                </a:solidFill>
              </a:rPr>
              <a:t>Reader AI</a:t>
            </a:r>
            <a:endParaRPr lang="en-US" sz="1500" dirty="0"/>
          </a:p>
        </p:txBody>
      </p:sp>
      <p:sp>
        <p:nvSpPr>
          <p:cNvPr id="33" name="Text 24"/>
          <p:cNvSpPr/>
          <p:nvPr/>
        </p:nvSpPr>
        <p:spPr>
          <a:xfrm>
            <a:off x="5449824" y="3767328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42D9C8"/>
                </a:solidFill>
              </a:rPr>
              <a:t>For readers</a:t>
            </a:r>
            <a:endParaRPr lang="en-US" sz="940" dirty="0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04688" y="4187952"/>
            <a:ext cx="155448" cy="155448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5724144" y="4169664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DDE8F4"/>
                </a:solidFill>
              </a:rPr>
              <a:t>Semantic search</a:t>
            </a:r>
            <a:endParaRPr lang="en-US" sz="960" dirty="0"/>
          </a:p>
        </p:txBody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04688" y="4572000"/>
            <a:ext cx="155448" cy="155448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5724144" y="4553712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DDE8F4"/>
                </a:solidFill>
              </a:rPr>
              <a:t>Personalized recommendations</a:t>
            </a:r>
            <a:endParaRPr lang="en-US" sz="960" dirty="0"/>
          </a:p>
        </p:txBody>
      </p:sp>
      <p:pic>
        <p:nvPicPr>
          <p:cNvPr id="38" name="Image 9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504688" y="4956048"/>
            <a:ext cx="155448" cy="155448"/>
          </a:xfrm>
          <a:prstGeom prst="rect">
            <a:avLst/>
          </a:prstGeom>
        </p:spPr>
      </p:pic>
      <p:sp>
        <p:nvSpPr>
          <p:cNvPr id="39" name="Text 27"/>
          <p:cNvSpPr/>
          <p:nvPr/>
        </p:nvSpPr>
        <p:spPr>
          <a:xfrm>
            <a:off x="5724144" y="4937760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DDE8F4"/>
                </a:solidFill>
              </a:rPr>
              <a:t>Reading path</a:t>
            </a:r>
            <a:endParaRPr lang="en-US" sz="960" dirty="0"/>
          </a:p>
        </p:txBody>
      </p:sp>
      <p:sp>
        <p:nvSpPr>
          <p:cNvPr id="40" name="Shape 28"/>
          <p:cNvSpPr/>
          <p:nvPr/>
        </p:nvSpPr>
        <p:spPr>
          <a:xfrm>
            <a:off x="7315200" y="2487168"/>
            <a:ext cx="1810512" cy="3200400"/>
          </a:xfrm>
          <a:prstGeom prst="roundRect">
            <a:avLst>
              <a:gd name="adj" fmla="val 6566"/>
            </a:avLst>
          </a:prstGeom>
          <a:solidFill>
            <a:srgbClr val="0E2035"/>
          </a:solidFill>
          <a:ln w="12700">
            <a:solidFill>
              <a:srgbClr val="4E7CFF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Shape 29"/>
          <p:cNvSpPr/>
          <p:nvPr/>
        </p:nvSpPr>
        <p:spPr>
          <a:xfrm>
            <a:off x="7918704" y="272491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4E7CFF"/>
          </a:solidFill>
          <a:ln w="12700">
            <a:solidFill>
              <a:srgbClr val="4E7CFF"/>
            </a:solidFill>
            <a:prstDash val="solid"/>
          </a:ln>
        </p:spPr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063545" y="2869753"/>
            <a:ext cx="313822" cy="313822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7443216" y="34930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BFF"/>
                </a:solidFill>
              </a:rPr>
              <a:t>Librarian AI</a:t>
            </a:r>
            <a:endParaRPr lang="en-US" sz="1500" dirty="0"/>
          </a:p>
        </p:txBody>
      </p:sp>
      <p:sp>
        <p:nvSpPr>
          <p:cNvPr id="44" name="Text 31"/>
          <p:cNvSpPr/>
          <p:nvPr/>
        </p:nvSpPr>
        <p:spPr>
          <a:xfrm>
            <a:off x="7461504" y="3767328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4E7CFF"/>
                </a:solidFill>
              </a:rPr>
              <a:t>For librarians</a:t>
            </a:r>
            <a:endParaRPr lang="en-US" sz="940" dirty="0"/>
          </a:p>
        </p:txBody>
      </p:sp>
      <p:pic>
        <p:nvPicPr>
          <p:cNvPr id="45" name="Image 11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516368" y="4187952"/>
            <a:ext cx="155448" cy="155448"/>
          </a:xfrm>
          <a:prstGeom prst="rect">
            <a:avLst/>
          </a:prstGeom>
        </p:spPr>
      </p:pic>
      <p:sp>
        <p:nvSpPr>
          <p:cNvPr id="46" name="Text 32"/>
          <p:cNvSpPr/>
          <p:nvPr/>
        </p:nvSpPr>
        <p:spPr>
          <a:xfrm>
            <a:off x="7735824" y="4169664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DDE8F4"/>
                </a:solidFill>
              </a:rPr>
              <a:t>AI cataloging</a:t>
            </a:r>
            <a:endParaRPr lang="en-US" sz="960" dirty="0"/>
          </a:p>
        </p:txBody>
      </p:sp>
      <p:pic>
        <p:nvPicPr>
          <p:cNvPr id="47" name="Image 12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516368" y="4572000"/>
            <a:ext cx="155448" cy="155448"/>
          </a:xfrm>
          <a:prstGeom prst="rect">
            <a:avLst/>
          </a:prstGeom>
        </p:spPr>
      </p:pic>
      <p:sp>
        <p:nvSpPr>
          <p:cNvPr id="48" name="Text 33"/>
          <p:cNvSpPr/>
          <p:nvPr/>
        </p:nvSpPr>
        <p:spPr>
          <a:xfrm>
            <a:off x="7735824" y="4553712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DDE8F4"/>
                </a:solidFill>
              </a:rPr>
              <a:t>Natural-language management</a:t>
            </a:r>
            <a:endParaRPr lang="en-US" sz="960" dirty="0"/>
          </a:p>
        </p:txBody>
      </p:sp>
      <p:pic>
        <p:nvPicPr>
          <p:cNvPr id="49" name="Image 13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7516368" y="4956048"/>
            <a:ext cx="155448" cy="155448"/>
          </a:xfrm>
          <a:prstGeom prst="rect">
            <a:avLst/>
          </a:prstGeom>
        </p:spPr>
      </p:pic>
      <p:sp>
        <p:nvSpPr>
          <p:cNvPr id="50" name="Text 34"/>
          <p:cNvSpPr/>
          <p:nvPr/>
        </p:nvSpPr>
        <p:spPr>
          <a:xfrm>
            <a:off x="7735824" y="4937760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DDE8F4"/>
                </a:solidFill>
              </a:rPr>
              <a:t>Automated reports</a:t>
            </a:r>
            <a:endParaRPr lang="en-US" sz="960" dirty="0"/>
          </a:p>
        </p:txBody>
      </p:sp>
      <p:sp>
        <p:nvSpPr>
          <p:cNvPr id="51" name="Shape 35"/>
          <p:cNvSpPr/>
          <p:nvPr/>
        </p:nvSpPr>
        <p:spPr>
          <a:xfrm>
            <a:off x="9326880" y="2487168"/>
            <a:ext cx="1810512" cy="3200400"/>
          </a:xfrm>
          <a:prstGeom prst="roundRect">
            <a:avLst>
              <a:gd name="adj" fmla="val 6566"/>
            </a:avLst>
          </a:prstGeom>
          <a:solidFill>
            <a:srgbClr val="0E2035"/>
          </a:solidFill>
          <a:ln w="12700">
            <a:solidFill>
              <a:srgbClr val="866DFF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2" name="Shape 36"/>
          <p:cNvSpPr/>
          <p:nvPr/>
        </p:nvSpPr>
        <p:spPr>
          <a:xfrm>
            <a:off x="9930384" y="2724912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866DFF"/>
          </a:solidFill>
          <a:ln w="12700">
            <a:solidFill>
              <a:srgbClr val="866DFF"/>
            </a:solidFill>
            <a:prstDash val="solid"/>
          </a:ln>
        </p:spPr>
      </p:sp>
      <p:pic>
        <p:nvPicPr>
          <p:cNvPr id="53" name="Image 14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075225" y="2869753"/>
            <a:ext cx="313822" cy="313822"/>
          </a:xfrm>
          <a:prstGeom prst="rect">
            <a:avLst/>
          </a:prstGeom>
        </p:spPr>
      </p:pic>
      <p:sp>
        <p:nvSpPr>
          <p:cNvPr id="54" name="Text 37"/>
          <p:cNvSpPr/>
          <p:nvPr/>
        </p:nvSpPr>
        <p:spPr>
          <a:xfrm>
            <a:off x="9454896" y="3493008"/>
            <a:ext cx="1554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7FBFF"/>
                </a:solidFill>
              </a:rPr>
              <a:t>Analytics AI</a:t>
            </a:r>
            <a:endParaRPr lang="en-US" sz="1500" dirty="0"/>
          </a:p>
        </p:txBody>
      </p:sp>
      <p:sp>
        <p:nvSpPr>
          <p:cNvPr id="55" name="Text 38"/>
          <p:cNvSpPr/>
          <p:nvPr/>
        </p:nvSpPr>
        <p:spPr>
          <a:xfrm>
            <a:off x="9473184" y="3767328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866DFF"/>
                </a:solidFill>
              </a:rPr>
              <a:t>For administrators</a:t>
            </a:r>
            <a:endParaRPr lang="en-US" sz="940" dirty="0"/>
          </a:p>
        </p:txBody>
      </p:sp>
      <p:pic>
        <p:nvPicPr>
          <p:cNvPr id="56" name="Image 15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28048" y="4187952"/>
            <a:ext cx="155448" cy="155448"/>
          </a:xfrm>
          <a:prstGeom prst="rect">
            <a:avLst/>
          </a:prstGeom>
        </p:spPr>
      </p:pic>
      <p:sp>
        <p:nvSpPr>
          <p:cNvPr id="57" name="Text 39"/>
          <p:cNvSpPr/>
          <p:nvPr/>
        </p:nvSpPr>
        <p:spPr>
          <a:xfrm>
            <a:off x="9747504" y="4169664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DDE8F4"/>
                </a:solidFill>
              </a:rPr>
              <a:t>Demand analysis</a:t>
            </a:r>
            <a:endParaRPr lang="en-US" sz="960" dirty="0"/>
          </a:p>
        </p:txBody>
      </p:sp>
      <p:pic>
        <p:nvPicPr>
          <p:cNvPr id="58" name="Image 16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28048" y="4572000"/>
            <a:ext cx="155448" cy="155448"/>
          </a:xfrm>
          <a:prstGeom prst="rect">
            <a:avLst/>
          </a:prstGeom>
        </p:spPr>
      </p:pic>
      <p:sp>
        <p:nvSpPr>
          <p:cNvPr id="59" name="Text 40"/>
          <p:cNvSpPr/>
          <p:nvPr/>
        </p:nvSpPr>
        <p:spPr>
          <a:xfrm>
            <a:off x="9747504" y="4553712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DDE8F4"/>
                </a:solidFill>
              </a:rPr>
              <a:t>Purchase recommendations</a:t>
            </a:r>
            <a:endParaRPr lang="en-US" sz="960" dirty="0"/>
          </a:p>
        </p:txBody>
      </p:sp>
      <p:pic>
        <p:nvPicPr>
          <p:cNvPr id="60" name="Image 17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528048" y="4956048"/>
            <a:ext cx="155448" cy="155448"/>
          </a:xfrm>
          <a:prstGeom prst="rect">
            <a:avLst/>
          </a:prstGeom>
        </p:spPr>
      </p:pic>
      <p:sp>
        <p:nvSpPr>
          <p:cNvPr id="61" name="Text 41"/>
          <p:cNvSpPr/>
          <p:nvPr/>
        </p:nvSpPr>
        <p:spPr>
          <a:xfrm>
            <a:off x="9747504" y="4937760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DDE8F4"/>
                </a:solidFill>
              </a:rPr>
              <a:t>Trend forecasting</a:t>
            </a:r>
            <a:endParaRPr lang="en-US" sz="960" dirty="0"/>
          </a:p>
        </p:txBody>
      </p:sp>
      <p:sp>
        <p:nvSpPr>
          <p:cNvPr id="62" name="Shape 42"/>
          <p:cNvSpPr/>
          <p:nvPr/>
        </p:nvSpPr>
        <p:spPr>
          <a:xfrm>
            <a:off x="2596896" y="5943600"/>
            <a:ext cx="7004304" cy="429768"/>
          </a:xfrm>
          <a:prstGeom prst="roundRect">
            <a:avLst>
              <a:gd name="adj" fmla="val 27660"/>
            </a:avLst>
          </a:prstGeom>
          <a:solidFill>
            <a:srgbClr val="11273C"/>
          </a:solidFill>
          <a:ln w="12700">
            <a:solidFill>
              <a:srgbClr val="25455F"/>
            </a:solidFill>
            <a:prstDash val="solid"/>
          </a:ln>
        </p:spPr>
      </p:sp>
      <p:sp>
        <p:nvSpPr>
          <p:cNvPr id="63" name="Text 43"/>
          <p:cNvSpPr/>
          <p:nvPr/>
        </p:nvSpPr>
        <p:spPr>
          <a:xfrm>
            <a:off x="2816352" y="6053328"/>
            <a:ext cx="65836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79F4E7"/>
                </a:solidFill>
              </a:rPr>
              <a:t>AI does not recommend a random book from the internet — it recommends books actually available in the school collection.</a:t>
            </a:r>
            <a:endParaRPr lang="en-US" sz="1120" dirty="0"/>
          </a:p>
        </p:txBody>
      </p:sp>
      <p:sp>
        <p:nvSpPr>
          <p:cNvPr id="6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F8D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93808" y="73152"/>
            <a:ext cx="2212848" cy="2212848"/>
          </a:xfrm>
          <a:prstGeom prst="ellipse">
            <a:avLst/>
          </a:prstGeom>
          <a:solidFill>
            <a:srgbClr val="4E7CFF">
              <a:alpha val="17000"/>
            </a:srgbClr>
          </a:solidFill>
          <a:ln w="12700">
            <a:solidFill>
              <a:srgbClr val="4E7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" y="5413248"/>
            <a:ext cx="1444752" cy="1325880"/>
          </a:xfrm>
          <a:prstGeom prst="ellipse">
            <a:avLst/>
          </a:prstGeom>
          <a:solidFill>
            <a:srgbClr val="42D9C8">
              <a:alpha val="12000"/>
            </a:srgbClr>
          </a:solidFill>
          <a:ln w="12700">
            <a:solidFill>
              <a:srgbClr val="42D9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42D9C8"/>
          </a:solidFill>
          <a:ln w="12700">
            <a:solidFill>
              <a:srgbClr val="42D9C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632" y="34747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6517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LibCloud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09928" y="265176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2D9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822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42D9C8"/>
                </a:solidFill>
              </a:rPr>
              <a:t>READER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07899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personal smart librarian for every student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94360" y="1755648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8FA3BA"/>
                </a:solidFill>
              </a:rPr>
              <a:t>Students do not need to know the book title. They describe their goal — AI finds the right book.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85800" y="2331720"/>
            <a:ext cx="3703320" cy="3639312"/>
          </a:xfrm>
          <a:prstGeom prst="roundRect">
            <a:avLst>
              <a:gd name="adj" fmla="val 3266"/>
            </a:avLst>
          </a:prstGeom>
          <a:solidFill>
            <a:srgbClr val="0A1524"/>
          </a:solidFill>
          <a:ln w="12700">
            <a:solidFill>
              <a:srgbClr val="27415A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1051560" y="2578608"/>
            <a:ext cx="2971800" cy="3127248"/>
          </a:xfrm>
          <a:prstGeom prst="roundRect">
            <a:avLst>
              <a:gd name="adj" fmla="val 6769"/>
            </a:avLst>
          </a:prstGeom>
          <a:solidFill>
            <a:srgbClr val="F5F8FB"/>
          </a:solidFill>
          <a:ln w="15240">
            <a:solidFill>
              <a:srgbClr val="AEC1D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029968" y="2706624"/>
            <a:ext cx="1005840" cy="118872"/>
          </a:xfrm>
          <a:prstGeom prst="roundRect">
            <a:avLst>
              <a:gd name="adj" fmla="val 46154"/>
            </a:avLst>
          </a:prstGeom>
          <a:solidFill>
            <a:srgbClr val="263747"/>
          </a:solidFill>
          <a:ln w="12700">
            <a:solidFill>
              <a:srgbClr val="26374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98448" y="2980944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253A"/>
                </a:solidFill>
              </a:rPr>
              <a:t>LibCloud AI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371600" y="3438144"/>
            <a:ext cx="2084832" cy="658368"/>
          </a:xfrm>
          <a:prstGeom prst="roundRect">
            <a:avLst>
              <a:gd name="adj" fmla="val 18056"/>
            </a:avLst>
          </a:prstGeom>
          <a:solidFill>
            <a:srgbClr val="E3EAF1"/>
          </a:solidFill>
          <a:ln w="12700">
            <a:solidFill>
              <a:srgbClr val="E3EAF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517904" y="3575304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60" dirty="0">
                <a:solidFill>
                  <a:srgbClr val="24394D"/>
                </a:solidFill>
              </a:rPr>
              <a:t>Find me an adventure book</a:t>
            </a:r>
            <a:endParaRPr lang="en-US" sz="1060" dirty="0"/>
          </a:p>
          <a:p>
            <a:pPr marL="0" indent="0">
              <a:buNone/>
            </a:pPr>
            <a:r>
              <a:rPr lang="en-US" sz="1060" dirty="0">
                <a:solidFill>
                  <a:srgbClr val="24394D"/>
                </a:solidFill>
              </a:rPr>
              <a:t>for a 14-year-old.</a:t>
            </a:r>
            <a:endParaRPr lang="en-US" sz="1060" dirty="0"/>
          </a:p>
        </p:txBody>
      </p:sp>
      <p:sp>
        <p:nvSpPr>
          <p:cNvPr id="17" name="Shape 14"/>
          <p:cNvSpPr/>
          <p:nvPr/>
        </p:nvSpPr>
        <p:spPr>
          <a:xfrm>
            <a:off x="1572768" y="4297680"/>
            <a:ext cx="2121408" cy="960120"/>
          </a:xfrm>
          <a:prstGeom prst="roundRect">
            <a:avLst>
              <a:gd name="adj" fmla="val 12381"/>
            </a:avLst>
          </a:prstGeom>
          <a:solidFill>
            <a:srgbClr val="D7FFF9"/>
          </a:solidFill>
          <a:ln w="12700">
            <a:solidFill>
              <a:srgbClr val="A9F0E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719072" y="4443984"/>
            <a:ext cx="1600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23B39"/>
                </a:solidFill>
              </a:rPr>
              <a:t>I found 3 suitable books: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1719072" y="4663440"/>
            <a:ext cx="166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24504D"/>
                </a:solidFill>
              </a:rPr>
              <a:t>1. The Mysterious Island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24504D"/>
                </a:solidFill>
              </a:rPr>
              <a:t>2. The Adventures of Tom Sawyer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24504D"/>
                </a:solidFill>
              </a:rPr>
              <a:t>3. Riding the Yellow Giant</a:t>
            </a:r>
            <a:endParaRPr lang="en-US" sz="930" dirty="0"/>
          </a:p>
        </p:txBody>
      </p:sp>
      <p:sp>
        <p:nvSpPr>
          <p:cNvPr id="20" name="Shape 17"/>
          <p:cNvSpPr/>
          <p:nvPr/>
        </p:nvSpPr>
        <p:spPr>
          <a:xfrm>
            <a:off x="1417320" y="5376672"/>
            <a:ext cx="2322576" cy="210312"/>
          </a:xfrm>
          <a:prstGeom prst="roundRect">
            <a:avLst>
              <a:gd name="adj" fmla="val 43478"/>
            </a:avLst>
          </a:prstGeom>
          <a:solidFill>
            <a:srgbClr val="E8EDF3"/>
          </a:solidFill>
          <a:ln w="12700">
            <a:solidFill>
              <a:srgbClr val="E8EDF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591056" y="5422392"/>
            <a:ext cx="15544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8294A6"/>
                </a:solidFill>
              </a:rPr>
              <a:t>Type your question…</a:t>
            </a:r>
            <a:endParaRPr lang="en-US" sz="750" dirty="0"/>
          </a:p>
        </p:txBody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29000" y="5422392"/>
            <a:ext cx="91440" cy="91440"/>
          </a:xfrm>
          <a:prstGeom prst="rect">
            <a:avLst/>
          </a:prstGeom>
        </p:spPr>
      </p:pic>
      <p:sp>
        <p:nvSpPr>
          <p:cNvPr id="23" name="Shape 19"/>
          <p:cNvSpPr/>
          <p:nvPr/>
        </p:nvSpPr>
        <p:spPr>
          <a:xfrm>
            <a:off x="4791456" y="2395728"/>
            <a:ext cx="2944368" cy="822960"/>
          </a:xfrm>
          <a:prstGeom prst="roundRect">
            <a:avLst>
              <a:gd name="adj" fmla="val 14444"/>
            </a:avLst>
          </a:prstGeom>
          <a:solidFill>
            <a:srgbClr val="0E2035"/>
          </a:solidFill>
          <a:ln w="12700">
            <a:solidFill>
              <a:srgbClr val="203A5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001768" y="256032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42D9C8"/>
          </a:solidFill>
          <a:ln w="12700">
            <a:solidFill>
              <a:srgbClr val="42D9C8"/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15885" y="2674437"/>
            <a:ext cx="247254" cy="24725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623560" y="2532888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7FBFF"/>
                </a:solidFill>
              </a:rPr>
              <a:t>Semantic search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5623560" y="2779776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8FA3BA"/>
                </a:solidFill>
              </a:rPr>
              <a:t>Understands natural requests such as “an easy book about Amir Temur.”</a:t>
            </a:r>
            <a:endParaRPr lang="en-US" sz="970" dirty="0"/>
          </a:p>
        </p:txBody>
      </p:sp>
      <p:sp>
        <p:nvSpPr>
          <p:cNvPr id="28" name="Shape 23"/>
          <p:cNvSpPr/>
          <p:nvPr/>
        </p:nvSpPr>
        <p:spPr>
          <a:xfrm>
            <a:off x="4791456" y="3401568"/>
            <a:ext cx="2944368" cy="822960"/>
          </a:xfrm>
          <a:prstGeom prst="roundRect">
            <a:avLst>
              <a:gd name="adj" fmla="val 14444"/>
            </a:avLst>
          </a:prstGeom>
          <a:solidFill>
            <a:srgbClr val="0E2035"/>
          </a:solidFill>
          <a:ln w="12700">
            <a:solidFill>
              <a:srgbClr val="203A53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5001768" y="356616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866DFF"/>
          </a:solidFill>
          <a:ln w="12700">
            <a:solidFill>
              <a:srgbClr val="866DFF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115885" y="3680277"/>
            <a:ext cx="247254" cy="247254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5623560" y="3538728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7FBFF"/>
                </a:solidFill>
              </a:rPr>
              <a:t>Personalized recommendations</a:t>
            </a:r>
            <a:endParaRPr lang="en-US" sz="1400" dirty="0"/>
          </a:p>
        </p:txBody>
      </p:sp>
      <p:sp>
        <p:nvSpPr>
          <p:cNvPr id="32" name="Text 26"/>
          <p:cNvSpPr/>
          <p:nvPr/>
        </p:nvSpPr>
        <p:spPr>
          <a:xfrm>
            <a:off x="5623560" y="3785616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8FA3BA"/>
                </a:solidFill>
              </a:rPr>
              <a:t>Suggests books based on previous loans, age, and interests.</a:t>
            </a:r>
            <a:endParaRPr lang="en-US" sz="970" dirty="0"/>
          </a:p>
        </p:txBody>
      </p:sp>
      <p:sp>
        <p:nvSpPr>
          <p:cNvPr id="33" name="Shape 27"/>
          <p:cNvSpPr/>
          <p:nvPr/>
        </p:nvSpPr>
        <p:spPr>
          <a:xfrm>
            <a:off x="4791456" y="4407408"/>
            <a:ext cx="2944368" cy="822960"/>
          </a:xfrm>
          <a:prstGeom prst="roundRect">
            <a:avLst>
              <a:gd name="adj" fmla="val 14444"/>
            </a:avLst>
          </a:prstGeom>
          <a:solidFill>
            <a:srgbClr val="0E2035"/>
          </a:solidFill>
          <a:ln w="12700">
            <a:solidFill>
              <a:srgbClr val="203A53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5001768" y="4572000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4E7CFF"/>
          </a:solidFill>
          <a:ln w="12700">
            <a:solidFill>
              <a:srgbClr val="4E7CFF"/>
            </a:solidFill>
            <a:prstDash val="solid"/>
          </a:ln>
        </p:spPr>
      </p:sp>
      <p:pic>
        <p:nvPicPr>
          <p:cNvPr id="3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115885" y="4686117"/>
            <a:ext cx="247254" cy="24725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5623560" y="4544568"/>
            <a:ext cx="18105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7FBFF"/>
                </a:solidFill>
              </a:rPr>
              <a:t>Reading path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5623560" y="4791456"/>
            <a:ext cx="1847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dirty="0">
                <a:solidFill>
                  <a:srgbClr val="8FA3BA"/>
                </a:solidFill>
              </a:rPr>
              <a:t>A step-by-step book sequence from beginner to advanced for any topic.</a:t>
            </a:r>
            <a:endParaRPr lang="en-US" sz="970" dirty="0"/>
          </a:p>
        </p:txBody>
      </p:sp>
      <p:sp>
        <p:nvSpPr>
          <p:cNvPr id="38" name="Shape 31"/>
          <p:cNvSpPr/>
          <p:nvPr/>
        </p:nvSpPr>
        <p:spPr>
          <a:xfrm>
            <a:off x="8074152" y="2395728"/>
            <a:ext cx="3511296" cy="2834640"/>
          </a:xfrm>
          <a:prstGeom prst="roundRect">
            <a:avLst>
              <a:gd name="adj" fmla="val 4194"/>
            </a:avLst>
          </a:prstGeom>
          <a:solidFill>
            <a:srgbClr val="0B1A2B"/>
          </a:solidFill>
          <a:ln w="12700">
            <a:solidFill>
              <a:srgbClr val="24405B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39" name="Text 32"/>
          <p:cNvSpPr/>
          <p:nvPr/>
        </p:nvSpPr>
        <p:spPr>
          <a:xfrm>
            <a:off x="8339328" y="2651760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BFF"/>
                </a:solidFill>
              </a:rPr>
              <a:t>Reader outcomes</a:t>
            </a:r>
            <a:endParaRPr lang="en-US" sz="1700" dirty="0"/>
          </a:p>
        </p:txBody>
      </p:sp>
      <p:sp>
        <p:nvSpPr>
          <p:cNvPr id="40" name="Shape 33"/>
          <p:cNvSpPr/>
          <p:nvPr/>
        </p:nvSpPr>
        <p:spPr>
          <a:xfrm>
            <a:off x="8339328" y="3154680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42A43"/>
          </a:solidFill>
          <a:ln w="12700">
            <a:solidFill>
              <a:srgbClr val="142A43"/>
            </a:solidFill>
            <a:prstDash val="solid"/>
          </a:ln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431500" y="3246852"/>
            <a:ext cx="199705" cy="199705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8860536" y="3127248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DE8F4"/>
                </a:solidFill>
              </a:rPr>
              <a:t>Find books faster</a:t>
            </a:r>
            <a:endParaRPr lang="en-US" sz="1150" dirty="0"/>
          </a:p>
        </p:txBody>
      </p:sp>
      <p:sp>
        <p:nvSpPr>
          <p:cNvPr id="43" name="Text 35"/>
          <p:cNvSpPr/>
          <p:nvPr/>
        </p:nvSpPr>
        <p:spPr>
          <a:xfrm>
            <a:off x="8860536" y="3337560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8FA3BA"/>
                </a:solidFill>
              </a:rPr>
              <a:t>A shorter path from search to reservation</a:t>
            </a:r>
            <a:endParaRPr lang="en-US" sz="890" dirty="0"/>
          </a:p>
        </p:txBody>
      </p:sp>
      <p:sp>
        <p:nvSpPr>
          <p:cNvPr id="44" name="Shape 36"/>
          <p:cNvSpPr/>
          <p:nvPr/>
        </p:nvSpPr>
        <p:spPr>
          <a:xfrm>
            <a:off x="8339328" y="3813048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42A43"/>
          </a:solidFill>
          <a:ln w="12700">
            <a:solidFill>
              <a:srgbClr val="142A43"/>
            </a:solidFill>
            <a:prstDash val="solid"/>
          </a:ln>
        </p:spPr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8431500" y="3905220"/>
            <a:ext cx="199705" cy="199705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8860536" y="3785616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DE8F4"/>
                </a:solidFill>
              </a:rPr>
              <a:t>Read more</a:t>
            </a:r>
            <a:endParaRPr lang="en-US" sz="1150" dirty="0"/>
          </a:p>
        </p:txBody>
      </p:sp>
      <p:sp>
        <p:nvSpPr>
          <p:cNvPr id="47" name="Text 38"/>
          <p:cNvSpPr/>
          <p:nvPr/>
        </p:nvSpPr>
        <p:spPr>
          <a:xfrm>
            <a:off x="8860536" y="3995928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8FA3BA"/>
                </a:solidFill>
              </a:rPr>
              <a:t>Relevant content encourages students to return</a:t>
            </a:r>
            <a:endParaRPr lang="en-US" sz="890" dirty="0"/>
          </a:p>
        </p:txBody>
      </p:sp>
      <p:sp>
        <p:nvSpPr>
          <p:cNvPr id="48" name="Shape 39"/>
          <p:cNvSpPr/>
          <p:nvPr/>
        </p:nvSpPr>
        <p:spPr>
          <a:xfrm>
            <a:off x="8339328" y="4471416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42A43"/>
          </a:solidFill>
          <a:ln w="12700">
            <a:solidFill>
              <a:srgbClr val="142A43"/>
            </a:solidFill>
            <a:prstDash val="solid"/>
          </a:ln>
        </p:spPr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431500" y="4563588"/>
            <a:ext cx="199705" cy="199705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8860536" y="4443984"/>
            <a:ext cx="1993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DDE8F4"/>
                </a:solidFill>
              </a:rPr>
              <a:t>Digital habit</a:t>
            </a:r>
            <a:endParaRPr lang="en-US" sz="1150" dirty="0"/>
          </a:p>
        </p:txBody>
      </p:sp>
      <p:sp>
        <p:nvSpPr>
          <p:cNvPr id="51" name="Text 41"/>
          <p:cNvSpPr/>
          <p:nvPr/>
        </p:nvSpPr>
        <p:spPr>
          <a:xfrm>
            <a:off x="8860536" y="4654296"/>
            <a:ext cx="22402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90" dirty="0">
                <a:solidFill>
                  <a:srgbClr val="8FA3BA"/>
                </a:solidFill>
              </a:rPr>
              <a:t>A familiar, simple experience inside Telegram</a:t>
            </a:r>
            <a:endParaRPr lang="en-US" sz="890" dirty="0"/>
          </a:p>
        </p:txBody>
      </p:sp>
      <p:sp>
        <p:nvSpPr>
          <p:cNvPr id="52" name="Shape 42"/>
          <p:cNvSpPr/>
          <p:nvPr/>
        </p:nvSpPr>
        <p:spPr>
          <a:xfrm>
            <a:off x="8156448" y="5541264"/>
            <a:ext cx="3291840" cy="292608"/>
          </a:xfrm>
          <a:prstGeom prst="roundRect">
            <a:avLst>
              <a:gd name="adj" fmla="val 50000"/>
            </a:avLst>
          </a:prstGeom>
          <a:solidFill>
            <a:srgbClr val="102A42"/>
          </a:solidFill>
          <a:ln w="8890">
            <a:solidFill>
              <a:srgbClr val="203A53"/>
            </a:solidFill>
            <a:prstDash val="solid"/>
          </a:ln>
        </p:spPr>
      </p:sp>
      <p:sp>
        <p:nvSpPr>
          <p:cNvPr id="53" name="Text 43"/>
          <p:cNvSpPr/>
          <p:nvPr/>
        </p:nvSpPr>
        <p:spPr>
          <a:xfrm>
            <a:off x="8220456" y="5600700"/>
            <a:ext cx="31638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79F4E7"/>
                </a:solidFill>
              </a:rPr>
              <a:t>EXPECTED KPI: SEARCH → RESERVATION CONVERSION</a:t>
            </a:r>
            <a:endParaRPr lang="en-US" sz="94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F8D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93808" y="73152"/>
            <a:ext cx="2212848" cy="2212848"/>
          </a:xfrm>
          <a:prstGeom prst="ellipse">
            <a:avLst/>
          </a:prstGeom>
          <a:solidFill>
            <a:srgbClr val="4E7CFF">
              <a:alpha val="17000"/>
            </a:srgbClr>
          </a:solidFill>
          <a:ln w="12700">
            <a:solidFill>
              <a:srgbClr val="4E7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" y="5413248"/>
            <a:ext cx="1444752" cy="1325880"/>
          </a:xfrm>
          <a:prstGeom prst="ellipse">
            <a:avLst/>
          </a:prstGeom>
          <a:solidFill>
            <a:srgbClr val="42D9C8">
              <a:alpha val="12000"/>
            </a:srgbClr>
          </a:solidFill>
          <a:ln w="12700">
            <a:solidFill>
              <a:srgbClr val="42D9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42D9C8"/>
          </a:solidFill>
          <a:ln w="12700">
            <a:solidFill>
              <a:srgbClr val="42D9C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632" y="34747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6517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LibCloud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09928" y="265176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2D9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822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42D9C8"/>
                </a:solidFill>
              </a:rPr>
              <a:t>LIBRARIAN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07899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 an operator — a decision-maker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94360" y="1755648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8FA3BA"/>
                </a:solidFill>
              </a:rPr>
              <a:t>AI reduces manual work while keeping the librarian in control.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58368" y="2331720"/>
            <a:ext cx="3858768" cy="3685032"/>
          </a:xfrm>
          <a:prstGeom prst="roundRect">
            <a:avLst>
              <a:gd name="adj" fmla="val 3226"/>
            </a:avLst>
          </a:prstGeom>
          <a:solidFill>
            <a:srgbClr val="0D1B2C"/>
          </a:solidFill>
          <a:ln w="12700">
            <a:solidFill>
              <a:srgbClr val="24405B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</p:sp>
      <p:pic>
        <p:nvPicPr>
          <p:cNvPr id="12" name="Image 1" descr="/mnt/data/libcloud_src/ppt/media/image-3-2.png"/>
          <p:cNvPicPr>
            <a:picLocks noChangeAspect="1"/>
          </p:cNvPicPr>
          <p:nvPr/>
        </p:nvPicPr>
        <p:blipFill>
          <a:blip r:embed="rId5"/>
          <a:srcRect t="4000" r="19254" b="16000"/>
          <a:stretch/>
        </p:blipFill>
        <p:spPr>
          <a:xfrm>
            <a:off x="786384" y="2459736"/>
            <a:ext cx="3602736" cy="221284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786384" y="4133088"/>
            <a:ext cx="3602736" cy="539496"/>
          </a:xfrm>
          <a:prstGeom prst="rect">
            <a:avLst/>
          </a:prstGeom>
          <a:solidFill>
            <a:srgbClr val="07111F">
              <a:alpha val="72000"/>
            </a:srgbClr>
          </a:solidFill>
          <a:ln w="12700">
            <a:solidFill>
              <a:srgbClr val="07111F">
                <a:alpha val="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005840" y="4910328"/>
            <a:ext cx="1060704" cy="292608"/>
          </a:xfrm>
          <a:prstGeom prst="roundRect">
            <a:avLst>
              <a:gd name="adj" fmla="val 50000"/>
            </a:avLst>
          </a:prstGeom>
          <a:solidFill>
            <a:srgbClr val="42D9C8"/>
          </a:solidFill>
          <a:ln w="8890">
            <a:solidFill>
              <a:srgbClr val="42D9C8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69848" y="4969764"/>
            <a:ext cx="93268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7111F"/>
                </a:solidFill>
              </a:rPr>
              <a:t>AI CATALOG</a:t>
            </a:r>
            <a:endParaRPr lang="en-US" sz="960" dirty="0"/>
          </a:p>
        </p:txBody>
      </p:sp>
      <p:sp>
        <p:nvSpPr>
          <p:cNvPr id="16" name="Text 12"/>
          <p:cNvSpPr/>
          <p:nvPr/>
        </p:nvSpPr>
        <p:spPr>
          <a:xfrm>
            <a:off x="1005840" y="5358384"/>
            <a:ext cx="299008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F7FBFF"/>
                </a:solidFill>
              </a:rPr>
              <a:t>Excel / ISBN → category → keywords → description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1005840" y="5733288"/>
            <a:ext cx="2971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30" dirty="0">
                <a:solidFill>
                  <a:srgbClr val="8FA3BA"/>
                </a:solidFill>
              </a:rPr>
              <a:t>The librarian only reviews and approves.</a:t>
            </a:r>
            <a:endParaRPr lang="en-US" sz="1030" dirty="0"/>
          </a:p>
        </p:txBody>
      </p:sp>
      <p:sp>
        <p:nvSpPr>
          <p:cNvPr id="18" name="Shape 14"/>
          <p:cNvSpPr/>
          <p:nvPr/>
        </p:nvSpPr>
        <p:spPr>
          <a:xfrm>
            <a:off x="4800600" y="2468880"/>
            <a:ext cx="1353312" cy="1344168"/>
          </a:xfrm>
          <a:prstGeom prst="roundRect">
            <a:avLst>
              <a:gd name="adj" fmla="val 8844"/>
            </a:avLst>
          </a:prstGeom>
          <a:solidFill>
            <a:srgbClr val="0E2035"/>
          </a:solidFill>
          <a:ln w="12700">
            <a:solidFill>
              <a:srgbClr val="5DE2A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230368" y="2670048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5DE2A5"/>
          </a:solidFill>
          <a:ln w="12700">
            <a:solidFill>
              <a:srgbClr val="5DE2A5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348874" y="2788554"/>
            <a:ext cx="256764" cy="25676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892040" y="3246120"/>
            <a:ext cx="1170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7FBFF"/>
                </a:solidFill>
              </a:rPr>
              <a:t>Import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4873752" y="347472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90" dirty="0">
                <a:solidFill>
                  <a:srgbClr val="8FA3BA"/>
                </a:solidFill>
              </a:rPr>
              <a:t>title / author / ISBN</a:t>
            </a:r>
            <a:endParaRPr lang="en-US" sz="790" dirty="0"/>
          </a:p>
        </p:txBody>
      </p:sp>
      <p:sp>
        <p:nvSpPr>
          <p:cNvPr id="23" name="Shape 18"/>
          <p:cNvSpPr/>
          <p:nvPr/>
        </p:nvSpPr>
        <p:spPr>
          <a:xfrm>
            <a:off x="6172200" y="3136392"/>
            <a:ext cx="237744" cy="0"/>
          </a:xfrm>
          <a:prstGeom prst="line">
            <a:avLst/>
          </a:prstGeom>
          <a:noFill/>
          <a:ln w="20320">
            <a:solidFill>
              <a:srgbClr val="42D9C8"/>
            </a:solidFill>
            <a:prstDash val="solid"/>
            <a:headEnd type="none"/>
            <a:tailEnd type="triangle"/>
          </a:ln>
        </p:spPr>
      </p:sp>
      <p:sp>
        <p:nvSpPr>
          <p:cNvPr id="24" name="Shape 19"/>
          <p:cNvSpPr/>
          <p:nvPr/>
        </p:nvSpPr>
        <p:spPr>
          <a:xfrm>
            <a:off x="6446520" y="2468880"/>
            <a:ext cx="1353312" cy="1344168"/>
          </a:xfrm>
          <a:prstGeom prst="roundRect">
            <a:avLst>
              <a:gd name="adj" fmla="val 8844"/>
            </a:avLst>
          </a:prstGeom>
          <a:solidFill>
            <a:srgbClr val="0E2035"/>
          </a:solidFill>
          <a:ln w="12700">
            <a:solidFill>
              <a:srgbClr val="42D9C8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6876288" y="2670048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42D9C8"/>
          </a:solidFill>
          <a:ln w="12700">
            <a:solidFill>
              <a:srgbClr val="42D9C8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994794" y="2788554"/>
            <a:ext cx="256764" cy="25676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537960" y="3246120"/>
            <a:ext cx="1170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7FBFF"/>
                </a:solidFill>
              </a:rPr>
              <a:t>AI enrichment</a:t>
            </a:r>
            <a:endParaRPr lang="en-US" sz="1150" dirty="0"/>
          </a:p>
        </p:txBody>
      </p:sp>
      <p:sp>
        <p:nvSpPr>
          <p:cNvPr id="28" name="Text 22"/>
          <p:cNvSpPr/>
          <p:nvPr/>
        </p:nvSpPr>
        <p:spPr>
          <a:xfrm>
            <a:off x="6519672" y="347472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90" dirty="0">
                <a:solidFill>
                  <a:srgbClr val="8FA3BA"/>
                </a:solidFill>
              </a:rPr>
              <a:t>genre / age / tags</a:t>
            </a:r>
            <a:endParaRPr lang="en-US" sz="790" dirty="0"/>
          </a:p>
        </p:txBody>
      </p:sp>
      <p:sp>
        <p:nvSpPr>
          <p:cNvPr id="29" name="Shape 23"/>
          <p:cNvSpPr/>
          <p:nvPr/>
        </p:nvSpPr>
        <p:spPr>
          <a:xfrm>
            <a:off x="7818120" y="3136392"/>
            <a:ext cx="237744" cy="0"/>
          </a:xfrm>
          <a:prstGeom prst="line">
            <a:avLst/>
          </a:prstGeom>
          <a:noFill/>
          <a:ln w="20320">
            <a:solidFill>
              <a:srgbClr val="42D9C8"/>
            </a:solidFill>
            <a:prstDash val="solid"/>
            <a:headEnd type="none"/>
            <a:tailEnd type="triangle"/>
          </a:ln>
        </p:spPr>
      </p:sp>
      <p:sp>
        <p:nvSpPr>
          <p:cNvPr id="30" name="Shape 24"/>
          <p:cNvSpPr/>
          <p:nvPr/>
        </p:nvSpPr>
        <p:spPr>
          <a:xfrm>
            <a:off x="8092440" y="2468880"/>
            <a:ext cx="1353312" cy="1344168"/>
          </a:xfrm>
          <a:prstGeom prst="roundRect">
            <a:avLst>
              <a:gd name="adj" fmla="val 8844"/>
            </a:avLst>
          </a:prstGeom>
          <a:solidFill>
            <a:srgbClr val="0E2035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8522208" y="2670048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640714" y="2788554"/>
            <a:ext cx="256764" cy="25676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8183880" y="3246120"/>
            <a:ext cx="1170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7FBFF"/>
                </a:solidFill>
              </a:rPr>
              <a:t>Approval</a:t>
            </a:r>
            <a:endParaRPr lang="en-US" sz="1150" dirty="0"/>
          </a:p>
        </p:txBody>
      </p:sp>
      <p:sp>
        <p:nvSpPr>
          <p:cNvPr id="34" name="Text 27"/>
          <p:cNvSpPr/>
          <p:nvPr/>
        </p:nvSpPr>
        <p:spPr>
          <a:xfrm>
            <a:off x="8165592" y="347472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90" dirty="0">
                <a:solidFill>
                  <a:srgbClr val="8FA3BA"/>
                </a:solidFill>
              </a:rPr>
              <a:t>human-in-the-loop</a:t>
            </a:r>
            <a:endParaRPr lang="en-US" sz="790" dirty="0"/>
          </a:p>
        </p:txBody>
      </p:sp>
      <p:sp>
        <p:nvSpPr>
          <p:cNvPr id="35" name="Shape 28"/>
          <p:cNvSpPr/>
          <p:nvPr/>
        </p:nvSpPr>
        <p:spPr>
          <a:xfrm>
            <a:off x="9464040" y="3136392"/>
            <a:ext cx="237744" cy="0"/>
          </a:xfrm>
          <a:prstGeom prst="line">
            <a:avLst/>
          </a:prstGeom>
          <a:noFill/>
          <a:ln w="20320">
            <a:solidFill>
              <a:srgbClr val="42D9C8"/>
            </a:solidFill>
            <a:prstDash val="solid"/>
            <a:headEnd type="none"/>
            <a:tailEnd type="triangle"/>
          </a:ln>
        </p:spPr>
      </p:sp>
      <p:sp>
        <p:nvSpPr>
          <p:cNvPr id="36" name="Shape 29"/>
          <p:cNvSpPr/>
          <p:nvPr/>
        </p:nvSpPr>
        <p:spPr>
          <a:xfrm>
            <a:off x="9738360" y="2468880"/>
            <a:ext cx="1353312" cy="1344168"/>
          </a:xfrm>
          <a:prstGeom prst="roundRect">
            <a:avLst>
              <a:gd name="adj" fmla="val 8844"/>
            </a:avLst>
          </a:prstGeom>
          <a:solidFill>
            <a:srgbClr val="0E2035"/>
          </a:solidFill>
          <a:ln w="12700">
            <a:solidFill>
              <a:srgbClr val="4E7CFF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10168128" y="2670048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4E7CFF"/>
          </a:solidFill>
          <a:ln w="12700">
            <a:solidFill>
              <a:srgbClr val="4E7CFF"/>
            </a:solidFill>
            <a:prstDash val="solid"/>
          </a:ln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286634" y="2788554"/>
            <a:ext cx="256764" cy="25676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829800" y="3246120"/>
            <a:ext cx="1170432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7FBFF"/>
                </a:solidFill>
              </a:rPr>
              <a:t>Catalog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9811512" y="3474720"/>
            <a:ext cx="1207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90" dirty="0">
                <a:solidFill>
                  <a:srgbClr val="8FA3BA"/>
                </a:solidFill>
              </a:rPr>
              <a:t>ready for search</a:t>
            </a:r>
            <a:endParaRPr lang="en-US" sz="790" dirty="0"/>
          </a:p>
        </p:txBody>
      </p:sp>
      <p:sp>
        <p:nvSpPr>
          <p:cNvPr id="41" name="Shape 33"/>
          <p:cNvSpPr/>
          <p:nvPr/>
        </p:nvSpPr>
        <p:spPr>
          <a:xfrm>
            <a:off x="4800600" y="4096512"/>
            <a:ext cx="6291072" cy="1298448"/>
          </a:xfrm>
          <a:prstGeom prst="roundRect">
            <a:avLst>
              <a:gd name="adj" fmla="val 9155"/>
            </a:avLst>
          </a:prstGeom>
          <a:solidFill>
            <a:srgbClr val="0B192A"/>
          </a:solidFill>
          <a:ln w="12700">
            <a:solidFill>
              <a:srgbClr val="24405B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5020056" y="4352544"/>
            <a:ext cx="493776" cy="493776"/>
          </a:xfrm>
          <a:prstGeom prst="roundRect">
            <a:avLst>
              <a:gd name="adj" fmla="val 18519"/>
            </a:avLst>
          </a:prstGeom>
          <a:solidFill>
            <a:srgbClr val="102A42"/>
          </a:solidFill>
          <a:ln w="12700">
            <a:solidFill>
              <a:srgbClr val="102A42"/>
            </a:solidFill>
            <a:prstDash val="solid"/>
          </a:ln>
        </p:spPr>
      </p:sp>
      <p:pic>
        <p:nvPicPr>
          <p:cNvPr id="43" name="Image 6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5138562" y="4471050"/>
            <a:ext cx="256764" cy="256764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5650992" y="4297680"/>
            <a:ext cx="2423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7FBFF"/>
                </a:solidFill>
              </a:rPr>
              <a:t>Natural-language management</a:t>
            </a:r>
            <a:endParaRPr lang="en-US" sz="1500" dirty="0"/>
          </a:p>
        </p:txBody>
      </p:sp>
      <p:sp>
        <p:nvSpPr>
          <p:cNvPr id="45" name="Text 36"/>
          <p:cNvSpPr/>
          <p:nvPr/>
        </p:nvSpPr>
        <p:spPr>
          <a:xfrm>
            <a:off x="5650992" y="4626864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dirty="0">
                <a:solidFill>
                  <a:srgbClr val="DDE8F4"/>
                </a:solidFill>
              </a:rPr>
              <a:t>“Show books due for return today.”</a:t>
            </a:r>
            <a:endParaRPr lang="en-US" sz="1120" dirty="0"/>
          </a:p>
          <a:p>
            <a:pPr marL="0" indent="0">
              <a:buNone/>
            </a:pPr>
            <a:r>
              <a:rPr lang="en-US" sz="1120" dirty="0">
                <a:solidFill>
                  <a:srgbClr val="DDE8F4"/>
                </a:solidFill>
              </a:rPr>
              <a:t>“List the 10 most-read books in Grade 8-A.”</a:t>
            </a:r>
            <a:endParaRPr lang="en-US" sz="1120" dirty="0"/>
          </a:p>
        </p:txBody>
      </p:sp>
      <p:sp>
        <p:nvSpPr>
          <p:cNvPr id="46" name="Shape 37"/>
          <p:cNvSpPr/>
          <p:nvPr/>
        </p:nvSpPr>
        <p:spPr>
          <a:xfrm>
            <a:off x="4800600" y="5559552"/>
            <a:ext cx="6291072" cy="530352"/>
          </a:xfrm>
          <a:prstGeom prst="roundRect">
            <a:avLst>
              <a:gd name="adj" fmla="val 22414"/>
            </a:avLst>
          </a:prstGeom>
          <a:solidFill>
            <a:srgbClr val="11263B"/>
          </a:solidFill>
          <a:ln w="12700">
            <a:solidFill>
              <a:srgbClr val="2B4A66"/>
            </a:solidFill>
            <a:prstDash val="solid"/>
          </a:ln>
        </p:spPr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047488" y="5696712"/>
            <a:ext cx="201168" cy="201168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5358384" y="5660136"/>
            <a:ext cx="5248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DDE8F4"/>
                </a:solidFill>
              </a:rPr>
              <a:t>Every data change requires approval and leaves an audit trail.</a:t>
            </a:r>
            <a:endParaRPr lang="en-US" sz="1050" dirty="0"/>
          </a:p>
        </p:txBody>
      </p:sp>
      <p:sp>
        <p:nvSpPr>
          <p:cNvPr id="5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F8D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93808" y="73152"/>
            <a:ext cx="2212848" cy="2212848"/>
          </a:xfrm>
          <a:prstGeom prst="ellipse">
            <a:avLst/>
          </a:prstGeom>
          <a:solidFill>
            <a:srgbClr val="4E7CFF">
              <a:alpha val="17000"/>
            </a:srgbClr>
          </a:solidFill>
          <a:ln w="12700">
            <a:solidFill>
              <a:srgbClr val="4E7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" y="5413248"/>
            <a:ext cx="1444752" cy="1325880"/>
          </a:xfrm>
          <a:prstGeom prst="ellipse">
            <a:avLst/>
          </a:prstGeom>
          <a:solidFill>
            <a:srgbClr val="42D9C8">
              <a:alpha val="12000"/>
            </a:srgbClr>
          </a:solidFill>
          <a:ln w="12700">
            <a:solidFill>
              <a:srgbClr val="42D9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42D9C8"/>
          </a:solidFill>
          <a:ln w="12700">
            <a:solidFill>
              <a:srgbClr val="42D9C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632" y="34747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6517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LibCloud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09928" y="265176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2D9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822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42D9C8"/>
                </a:solidFill>
              </a:rPr>
              <a:t>ADMINISTRATION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07899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data to decision — in 30 seconds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94360" y="1755648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8FA3BA"/>
                </a:solidFill>
              </a:rPr>
              <a:t>The AI dashboard does more than show numbers — it tells you what action to take.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2322576"/>
            <a:ext cx="7498080" cy="3657600"/>
          </a:xfrm>
          <a:prstGeom prst="roundRect">
            <a:avLst>
              <a:gd name="adj" fmla="val 3250"/>
            </a:avLst>
          </a:prstGeom>
          <a:solidFill>
            <a:srgbClr val="F6FAFD"/>
          </a:solidFill>
          <a:ln w="12700">
            <a:solidFill>
              <a:srgbClr val="C7D5E2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96112" y="2587752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3405A"/>
                </a:solidFill>
              </a:rPr>
              <a:t>Library status • Demo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748272" y="2587752"/>
            <a:ext cx="1033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F8293"/>
                </a:solidFill>
              </a:rPr>
              <a:t>Last 90 days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914400" y="2980944"/>
            <a:ext cx="188366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78992" y="3099816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D62F3"/>
                </a:solidFill>
              </a:rPr>
              <a:t>1 240</a:t>
            </a:r>
            <a:endParaRPr lang="en-US" sz="1900" dirty="0"/>
          </a:p>
        </p:txBody>
      </p:sp>
      <p:sp>
        <p:nvSpPr>
          <p:cNvPr id="16" name="Text 13"/>
          <p:cNvSpPr/>
          <p:nvPr/>
        </p:nvSpPr>
        <p:spPr>
          <a:xfrm>
            <a:off x="1728216" y="3108960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1778B"/>
                </a:solidFill>
              </a:rPr>
              <a:t>loans</a:t>
            </a:r>
            <a:endParaRPr lang="en-US" sz="880" dirty="0"/>
          </a:p>
        </p:txBody>
      </p:sp>
      <p:sp>
        <p:nvSpPr>
          <p:cNvPr id="17" name="Shape 14"/>
          <p:cNvSpPr/>
          <p:nvPr/>
        </p:nvSpPr>
        <p:spPr>
          <a:xfrm>
            <a:off x="3054096" y="2980944"/>
            <a:ext cx="188366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218688" y="3099816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8A3D"/>
                </a:solidFill>
              </a:rPr>
              <a:t>42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3867912" y="3108960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1778B"/>
                </a:solidFill>
              </a:rPr>
              <a:t>inactive books</a:t>
            </a:r>
            <a:endParaRPr lang="en-US" sz="880" dirty="0"/>
          </a:p>
        </p:txBody>
      </p:sp>
      <p:sp>
        <p:nvSpPr>
          <p:cNvPr id="20" name="Shape 17"/>
          <p:cNvSpPr/>
          <p:nvPr/>
        </p:nvSpPr>
        <p:spPr>
          <a:xfrm>
            <a:off x="5193792" y="2980944"/>
            <a:ext cx="188366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6E1EA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58384" y="3099816"/>
            <a:ext cx="7132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D85555"/>
                </a:solidFill>
              </a:rPr>
              <a:t>18</a:t>
            </a:r>
            <a:endParaRPr lang="en-US" sz="1900" dirty="0"/>
          </a:p>
        </p:txBody>
      </p:sp>
      <p:sp>
        <p:nvSpPr>
          <p:cNvPr id="22" name="Text 19"/>
          <p:cNvSpPr/>
          <p:nvPr/>
        </p:nvSpPr>
        <p:spPr>
          <a:xfrm>
            <a:off x="6007608" y="3108960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dirty="0">
                <a:solidFill>
                  <a:srgbClr val="61778B"/>
                </a:solidFill>
              </a:rPr>
              <a:t>overdue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914400" y="3931920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334C63"/>
                </a:solidFill>
              </a:rPr>
              <a:t>Most-read genres</a:t>
            </a:r>
            <a:endParaRPr lang="en-US" sz="1040" dirty="0"/>
          </a:p>
        </p:txBody>
      </p:sp>
      <p:sp>
        <p:nvSpPr>
          <p:cNvPr id="24" name="Text 21"/>
          <p:cNvSpPr/>
          <p:nvPr/>
        </p:nvSpPr>
        <p:spPr>
          <a:xfrm>
            <a:off x="914400" y="427939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2778A"/>
                </a:solidFill>
              </a:rPr>
              <a:t>Adventure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1938528" y="4306824"/>
            <a:ext cx="3383280" cy="109728"/>
          </a:xfrm>
          <a:prstGeom prst="roundRect">
            <a:avLst>
              <a:gd name="adj" fmla="val 50000"/>
            </a:avLst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938528" y="4306824"/>
            <a:ext cx="3112618" cy="109728"/>
          </a:xfrm>
          <a:prstGeom prst="roundRect">
            <a:avLst>
              <a:gd name="adj" fmla="val 50000"/>
            </a:avLst>
          </a:prstGeom>
          <a:solidFill>
            <a:srgbClr val="42D9C8"/>
          </a:solidFill>
          <a:ln w="12700">
            <a:solidFill>
              <a:srgbClr val="42D9C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14400" y="460857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2778A"/>
                </a:solidFill>
              </a:rPr>
              <a:t>Fantasy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938528" y="4636008"/>
            <a:ext cx="3383280" cy="109728"/>
          </a:xfrm>
          <a:prstGeom prst="roundRect">
            <a:avLst>
              <a:gd name="adj" fmla="val 50000"/>
            </a:avLst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1938528" y="4636008"/>
            <a:ext cx="2638958" cy="109728"/>
          </a:xfrm>
          <a:prstGeom prst="roundRect">
            <a:avLst>
              <a:gd name="adj" fmla="val 50000"/>
            </a:avLst>
          </a:prstGeom>
          <a:solidFill>
            <a:srgbClr val="4E7CFF"/>
          </a:solidFill>
          <a:ln w="12700">
            <a:solidFill>
              <a:srgbClr val="4E7C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14400" y="493776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2778A"/>
                </a:solidFill>
              </a:rPr>
              <a:t>History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1938528" y="4965192"/>
            <a:ext cx="3383280" cy="109728"/>
          </a:xfrm>
          <a:prstGeom prst="roundRect">
            <a:avLst>
              <a:gd name="adj" fmla="val 50000"/>
            </a:avLst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938528" y="4965192"/>
            <a:ext cx="1962302" cy="109728"/>
          </a:xfrm>
          <a:prstGeom prst="roundRect">
            <a:avLst>
              <a:gd name="adj" fmla="val 50000"/>
            </a:avLst>
          </a:prstGeom>
          <a:solidFill>
            <a:srgbClr val="866DFF"/>
          </a:solidFill>
          <a:ln w="12700">
            <a:solidFill>
              <a:srgbClr val="866D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914400" y="526694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2778A"/>
                </a:solidFill>
              </a:rPr>
              <a:t>Programming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1938528" y="5294376"/>
            <a:ext cx="3383280" cy="109728"/>
          </a:xfrm>
          <a:prstGeom prst="roundRect">
            <a:avLst>
              <a:gd name="adj" fmla="val 50000"/>
            </a:avLst>
          </a:prstGeom>
          <a:solidFill>
            <a:srgbClr val="E7EEF4"/>
          </a:solidFill>
          <a:ln w="12700">
            <a:solidFill>
              <a:srgbClr val="E7EEF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1938528" y="5294376"/>
            <a:ext cx="1454810" cy="109728"/>
          </a:xfrm>
          <a:prstGeom prst="roundRect">
            <a:avLst>
              <a:gd name="adj" fmla="val 50000"/>
            </a:avLst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623560" y="3931920"/>
            <a:ext cx="12252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40" b="1" dirty="0">
                <a:solidFill>
                  <a:srgbClr val="334C63"/>
                </a:solidFill>
              </a:rPr>
              <a:t>Loan dynamics</a:t>
            </a:r>
            <a:endParaRPr lang="en-US" sz="1040" dirty="0"/>
          </a:p>
        </p:txBody>
      </p:sp>
      <p:sp>
        <p:nvSpPr>
          <p:cNvPr id="37" name="Shape 34"/>
          <p:cNvSpPr/>
          <p:nvPr/>
        </p:nvSpPr>
        <p:spPr>
          <a:xfrm>
            <a:off x="5669280" y="5065776"/>
            <a:ext cx="292608" cy="0"/>
          </a:xfrm>
          <a:prstGeom prst="line">
            <a:avLst/>
          </a:prstGeom>
          <a:noFill/>
          <a:ln w="27940">
            <a:solidFill>
              <a:srgbClr val="4E7CFF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961888" y="4800600"/>
            <a:ext cx="292608" cy="100584"/>
          </a:xfrm>
          <a:prstGeom prst="line">
            <a:avLst/>
          </a:prstGeom>
          <a:noFill/>
          <a:ln w="27940">
            <a:solidFill>
              <a:srgbClr val="4E7CFF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6254496" y="4901184"/>
            <a:ext cx="292608" cy="0"/>
          </a:xfrm>
          <a:prstGeom prst="line">
            <a:avLst/>
          </a:prstGeom>
          <a:noFill/>
          <a:ln w="27940">
            <a:solidFill>
              <a:srgbClr val="4E7CFF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547104" y="4544568"/>
            <a:ext cx="292608" cy="109728"/>
          </a:xfrm>
          <a:prstGeom prst="line">
            <a:avLst/>
          </a:prstGeom>
          <a:noFill/>
          <a:ln w="27940">
            <a:solidFill>
              <a:srgbClr val="4E7CFF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6839712" y="4654296"/>
            <a:ext cx="292608" cy="0"/>
          </a:xfrm>
          <a:prstGeom prst="line">
            <a:avLst/>
          </a:prstGeom>
          <a:noFill/>
          <a:ln w="27940">
            <a:solidFill>
              <a:srgbClr val="4E7CFF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132320" y="4279392"/>
            <a:ext cx="292608" cy="128016"/>
          </a:xfrm>
          <a:prstGeom prst="line">
            <a:avLst/>
          </a:prstGeom>
          <a:noFill/>
          <a:ln w="27940">
            <a:solidFill>
              <a:srgbClr val="4E7CFF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424928" y="4407408"/>
            <a:ext cx="292608" cy="0"/>
          </a:xfrm>
          <a:prstGeom prst="line">
            <a:avLst/>
          </a:prstGeom>
          <a:noFill/>
          <a:ln w="27940">
            <a:solidFill>
              <a:srgbClr val="4E7CFF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628132" y="5024628"/>
            <a:ext cx="82296" cy="82296"/>
          </a:xfrm>
          <a:prstGeom prst="ellipse">
            <a:avLst/>
          </a:prstGeom>
          <a:solidFill>
            <a:srgbClr val="4E7CFF"/>
          </a:solidFill>
          <a:ln w="12700">
            <a:solidFill>
              <a:srgbClr val="4E7CFF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920740" y="4759452"/>
            <a:ext cx="82296" cy="82296"/>
          </a:xfrm>
          <a:prstGeom prst="ellipse">
            <a:avLst/>
          </a:prstGeom>
          <a:solidFill>
            <a:srgbClr val="4E7CFF"/>
          </a:solidFill>
          <a:ln w="12700">
            <a:solidFill>
              <a:srgbClr val="4E7CFF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213348" y="4860036"/>
            <a:ext cx="82296" cy="82296"/>
          </a:xfrm>
          <a:prstGeom prst="ellipse">
            <a:avLst/>
          </a:prstGeom>
          <a:solidFill>
            <a:srgbClr val="4E7CFF"/>
          </a:solidFill>
          <a:ln w="12700">
            <a:solidFill>
              <a:srgbClr val="4E7C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505956" y="4503420"/>
            <a:ext cx="82296" cy="82296"/>
          </a:xfrm>
          <a:prstGeom prst="ellipse">
            <a:avLst/>
          </a:prstGeom>
          <a:solidFill>
            <a:srgbClr val="4E7CFF"/>
          </a:solidFill>
          <a:ln w="12700">
            <a:solidFill>
              <a:srgbClr val="4E7CFF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798564" y="4613148"/>
            <a:ext cx="82296" cy="82296"/>
          </a:xfrm>
          <a:prstGeom prst="ellipse">
            <a:avLst/>
          </a:prstGeom>
          <a:solidFill>
            <a:srgbClr val="4E7CFF"/>
          </a:solidFill>
          <a:ln w="12700">
            <a:solidFill>
              <a:srgbClr val="4E7CFF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091172" y="4238244"/>
            <a:ext cx="82296" cy="82296"/>
          </a:xfrm>
          <a:prstGeom prst="ellipse">
            <a:avLst/>
          </a:prstGeom>
          <a:solidFill>
            <a:srgbClr val="4E7CFF"/>
          </a:solidFill>
          <a:ln w="12700">
            <a:solidFill>
              <a:srgbClr val="4E7CF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7383780" y="4366260"/>
            <a:ext cx="82296" cy="82296"/>
          </a:xfrm>
          <a:prstGeom prst="ellipse">
            <a:avLst/>
          </a:prstGeom>
          <a:solidFill>
            <a:srgbClr val="4E7CFF"/>
          </a:solidFill>
          <a:ln w="12700">
            <a:solidFill>
              <a:srgbClr val="4E7CFF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7676388" y="4055364"/>
            <a:ext cx="82296" cy="82296"/>
          </a:xfrm>
          <a:prstGeom prst="ellipse">
            <a:avLst/>
          </a:prstGeom>
          <a:solidFill>
            <a:srgbClr val="4E7CFF"/>
          </a:solidFill>
          <a:ln w="12700">
            <a:solidFill>
              <a:srgbClr val="4E7CFF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8449056" y="2322576"/>
            <a:ext cx="3118104" cy="3657600"/>
          </a:xfrm>
          <a:prstGeom prst="roundRect">
            <a:avLst>
              <a:gd name="adj" fmla="val 3812"/>
            </a:avLst>
          </a:prstGeom>
          <a:solidFill>
            <a:srgbClr val="0E2035"/>
          </a:solidFill>
          <a:ln w="12700">
            <a:solidFill>
              <a:srgbClr val="42D9C8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3" name="Shape 50"/>
          <p:cNvSpPr/>
          <p:nvPr/>
        </p:nvSpPr>
        <p:spPr>
          <a:xfrm>
            <a:off x="8705088" y="2633472"/>
            <a:ext cx="530352" cy="530352"/>
          </a:xfrm>
          <a:prstGeom prst="roundRect">
            <a:avLst>
              <a:gd name="adj" fmla="val 17241"/>
            </a:avLst>
          </a:prstGeom>
          <a:solidFill>
            <a:srgbClr val="42D9C8"/>
          </a:solidFill>
          <a:ln w="12700">
            <a:solidFill>
              <a:srgbClr val="42D9C8"/>
            </a:solidFill>
            <a:prstDash val="solid"/>
          </a:ln>
        </p:spPr>
      </p:sp>
      <p:pic>
        <p:nvPicPr>
          <p:cNvPr id="54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32372" y="2760756"/>
            <a:ext cx="275783" cy="275783"/>
          </a:xfrm>
          <a:prstGeom prst="rect">
            <a:avLst/>
          </a:prstGeom>
        </p:spPr>
      </p:pic>
      <p:sp>
        <p:nvSpPr>
          <p:cNvPr id="55" name="Text 51"/>
          <p:cNvSpPr/>
          <p:nvPr/>
        </p:nvSpPr>
        <p:spPr>
          <a:xfrm>
            <a:off x="9381744" y="2670048"/>
            <a:ext cx="15727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BFF"/>
                </a:solidFill>
              </a:rPr>
              <a:t>AI insight</a:t>
            </a:r>
            <a:endParaRPr lang="en-US" sz="1600" dirty="0"/>
          </a:p>
        </p:txBody>
      </p:sp>
      <p:sp>
        <p:nvSpPr>
          <p:cNvPr id="56" name="Text 52"/>
          <p:cNvSpPr/>
          <p:nvPr/>
        </p:nvSpPr>
        <p:spPr>
          <a:xfrm>
            <a:off x="8705088" y="3310128"/>
            <a:ext cx="24963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40" b="1" dirty="0">
                <a:solidFill>
                  <a:srgbClr val="DDE8F4"/>
                </a:solidFill>
              </a:rPr>
              <a:t>Demand for programming books is high in Grades 7–9, but their share of the collection is low.</a:t>
            </a:r>
            <a:endParaRPr lang="en-US" sz="1240" dirty="0"/>
          </a:p>
        </p:txBody>
      </p:sp>
      <p:sp>
        <p:nvSpPr>
          <p:cNvPr id="57" name="Shape 53"/>
          <p:cNvSpPr/>
          <p:nvPr/>
        </p:nvSpPr>
        <p:spPr>
          <a:xfrm>
            <a:off x="8705088" y="4160520"/>
            <a:ext cx="2386584" cy="0"/>
          </a:xfrm>
          <a:prstGeom prst="line">
            <a:avLst/>
          </a:prstGeom>
          <a:noFill/>
          <a:ln w="12700">
            <a:solidFill>
              <a:srgbClr val="2C4C66"/>
            </a:solidFill>
            <a:prstDash val="solid"/>
          </a:ln>
        </p:spPr>
      </p:sp>
      <p:pic>
        <p:nvPicPr>
          <p:cNvPr id="5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23376" y="4407408"/>
            <a:ext cx="146304" cy="146304"/>
          </a:xfrm>
          <a:prstGeom prst="rect">
            <a:avLst/>
          </a:prstGeom>
        </p:spPr>
      </p:pic>
      <p:sp>
        <p:nvSpPr>
          <p:cNvPr id="59" name="Text 54"/>
          <p:cNvSpPr/>
          <p:nvPr/>
        </p:nvSpPr>
        <p:spPr>
          <a:xfrm>
            <a:off x="8979408" y="4370832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79F4E7"/>
                </a:solidFill>
              </a:rPr>
              <a:t>Purchase recommendation</a:t>
            </a:r>
            <a:endParaRPr lang="en-US" sz="920" dirty="0"/>
          </a:p>
        </p:txBody>
      </p:sp>
      <p:sp>
        <p:nvSpPr>
          <p:cNvPr id="60" name="Text 55"/>
          <p:cNvSpPr/>
          <p:nvPr/>
        </p:nvSpPr>
        <p:spPr>
          <a:xfrm>
            <a:off x="10012680" y="4370832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8FA3BA"/>
                </a:solidFill>
              </a:rPr>
              <a:t>Expand the programming category</a:t>
            </a:r>
            <a:endParaRPr lang="en-US" sz="860" dirty="0"/>
          </a:p>
        </p:txBody>
      </p:sp>
      <p:pic>
        <p:nvPicPr>
          <p:cNvPr id="6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23376" y="4837176"/>
            <a:ext cx="146304" cy="146304"/>
          </a:xfrm>
          <a:prstGeom prst="rect">
            <a:avLst/>
          </a:prstGeom>
        </p:spPr>
      </p:pic>
      <p:sp>
        <p:nvSpPr>
          <p:cNvPr id="62" name="Text 56"/>
          <p:cNvSpPr/>
          <p:nvPr/>
        </p:nvSpPr>
        <p:spPr>
          <a:xfrm>
            <a:off x="8979408" y="4800600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79F4E7"/>
                </a:solidFill>
              </a:rPr>
              <a:t>Collection optimization</a:t>
            </a:r>
            <a:endParaRPr lang="en-US" sz="920" dirty="0"/>
          </a:p>
        </p:txBody>
      </p:sp>
      <p:sp>
        <p:nvSpPr>
          <p:cNvPr id="63" name="Text 57"/>
          <p:cNvSpPr/>
          <p:nvPr/>
        </p:nvSpPr>
        <p:spPr>
          <a:xfrm>
            <a:off x="10012680" y="4800600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8FA3BA"/>
                </a:solidFill>
              </a:rPr>
              <a:t>Identify books not borrowed in the last 6 months</a:t>
            </a:r>
            <a:endParaRPr lang="en-US" sz="860" dirty="0"/>
          </a:p>
        </p:txBody>
      </p:sp>
      <p:pic>
        <p:nvPicPr>
          <p:cNvPr id="64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23376" y="5266944"/>
            <a:ext cx="146304" cy="146304"/>
          </a:xfrm>
          <a:prstGeom prst="rect">
            <a:avLst/>
          </a:prstGeom>
        </p:spPr>
      </p:pic>
      <p:sp>
        <p:nvSpPr>
          <p:cNvPr id="65" name="Text 58"/>
          <p:cNvSpPr/>
          <p:nvPr/>
        </p:nvSpPr>
        <p:spPr>
          <a:xfrm>
            <a:off x="8979408" y="523036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20" b="1" dirty="0">
                <a:solidFill>
                  <a:srgbClr val="79F4E7"/>
                </a:solidFill>
              </a:rPr>
              <a:t>Engagement</a:t>
            </a:r>
            <a:endParaRPr lang="en-US" sz="920" dirty="0"/>
          </a:p>
        </p:txBody>
      </p:sp>
      <p:sp>
        <p:nvSpPr>
          <p:cNvPr id="66" name="Text 59"/>
          <p:cNvSpPr/>
          <p:nvPr/>
        </p:nvSpPr>
        <p:spPr>
          <a:xfrm>
            <a:off x="10012680" y="5230368"/>
            <a:ext cx="1207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8FA3BA"/>
                </a:solidFill>
              </a:rPr>
              <a:t>“Most Active Reader” campaign</a:t>
            </a:r>
            <a:r>
              <a:rPr lang="en-US" sz="860" dirty="0" err="1">
                <a:solidFill>
                  <a:srgbClr val="8FA3BA"/>
                </a:solidFill>
              </a:rPr>
              <a:t/>
            </a:r>
            <a:endParaRPr lang="en-US" sz="860" dirty="0"/>
          </a:p>
        </p:txBody>
      </p:sp>
      <p:sp>
        <p:nvSpPr>
          <p:cNvPr id="67" name="Shape 60"/>
          <p:cNvSpPr/>
          <p:nvPr/>
        </p:nvSpPr>
        <p:spPr>
          <a:xfrm>
            <a:off x="8686800" y="5559552"/>
            <a:ext cx="2670048" cy="292608"/>
          </a:xfrm>
          <a:prstGeom prst="roundRect">
            <a:avLst>
              <a:gd name="adj" fmla="val 50000"/>
            </a:avLst>
          </a:prstGeom>
          <a:solidFill>
            <a:srgbClr val="143047"/>
          </a:solidFill>
          <a:ln w="8890">
            <a:solidFill>
              <a:srgbClr val="31506A"/>
            </a:solidFill>
            <a:prstDash val="solid"/>
          </a:ln>
        </p:spPr>
      </p:sp>
      <p:sp>
        <p:nvSpPr>
          <p:cNvPr id="68" name="Text 61"/>
          <p:cNvSpPr/>
          <p:nvPr/>
        </p:nvSpPr>
        <p:spPr>
          <a:xfrm>
            <a:off x="8750808" y="5618988"/>
            <a:ext cx="254203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C857"/>
                </a:solidFill>
              </a:rPr>
              <a:t>EXPECTED KPI: REDUCE OVERDUE LOANS</a:t>
            </a:r>
            <a:endParaRPr lang="en-US" sz="900" dirty="0"/>
          </a:p>
        </p:txBody>
      </p:sp>
      <p:sp>
        <p:nvSpPr>
          <p:cNvPr id="7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F8D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93808" y="73152"/>
            <a:ext cx="2212848" cy="2212848"/>
          </a:xfrm>
          <a:prstGeom prst="ellipse">
            <a:avLst/>
          </a:prstGeom>
          <a:solidFill>
            <a:srgbClr val="4E7CFF">
              <a:alpha val="17000"/>
            </a:srgbClr>
          </a:solidFill>
          <a:ln w="12700">
            <a:solidFill>
              <a:srgbClr val="4E7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" y="5413248"/>
            <a:ext cx="1444752" cy="1325880"/>
          </a:xfrm>
          <a:prstGeom prst="ellipse">
            <a:avLst/>
          </a:prstGeom>
          <a:solidFill>
            <a:srgbClr val="42D9C8">
              <a:alpha val="12000"/>
            </a:srgbClr>
          </a:solidFill>
          <a:ln w="12700">
            <a:solidFill>
              <a:srgbClr val="42D9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42D9C8"/>
          </a:solidFill>
          <a:ln w="12700">
            <a:solidFill>
              <a:srgbClr val="42D9C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632" y="34747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6517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LibCloud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09928" y="265176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2D9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822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42D9C8"/>
                </a:solidFill>
              </a:rPr>
              <a:t>TECHNOLOGY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07899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Safe, explainable AI built for schools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94360" y="1755648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8FA3BA"/>
                </a:solidFill>
              </a:rPr>
              <a:t>Every answer is grounded in a source; every action remains under control.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76656" y="2542032"/>
            <a:ext cx="1627632" cy="1481328"/>
          </a:xfrm>
          <a:prstGeom prst="roundRect">
            <a:avLst>
              <a:gd name="adj" fmla="val 8025"/>
            </a:avLst>
          </a:prstGeom>
          <a:solidFill>
            <a:srgbClr val="0E2035"/>
          </a:solidFill>
          <a:ln w="12700">
            <a:solidFill>
              <a:srgbClr val="42D9C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234440" y="274320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42D9C8"/>
          </a:solidFill>
          <a:ln w="12700">
            <a:solidFill>
              <a:srgbClr val="42D9C8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57335" y="2866095"/>
            <a:ext cx="266273" cy="26627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68096" y="3401568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7FBFF"/>
                </a:solidFill>
              </a:rPr>
              <a:t>Question / action</a:t>
            </a:r>
            <a:endParaRPr lang="en-US" sz="1230" dirty="0"/>
          </a:p>
        </p:txBody>
      </p:sp>
      <p:sp>
        <p:nvSpPr>
          <p:cNvPr id="15" name="Text 11"/>
          <p:cNvSpPr/>
          <p:nvPr/>
        </p:nvSpPr>
        <p:spPr>
          <a:xfrm>
            <a:off x="749808" y="3675888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8FA3BA"/>
                </a:solidFill>
              </a:rPr>
              <a:t>reader or staff member</a:t>
            </a:r>
            <a:endParaRPr lang="en-US" sz="840" dirty="0"/>
          </a:p>
        </p:txBody>
      </p:sp>
      <p:sp>
        <p:nvSpPr>
          <p:cNvPr id="16" name="Shape 12"/>
          <p:cNvSpPr/>
          <p:nvPr/>
        </p:nvSpPr>
        <p:spPr>
          <a:xfrm>
            <a:off x="2359152" y="3273552"/>
            <a:ext cx="329184" cy="0"/>
          </a:xfrm>
          <a:prstGeom prst="line">
            <a:avLst/>
          </a:prstGeom>
          <a:noFill/>
          <a:ln w="22860">
            <a:solidFill>
              <a:srgbClr val="42D9C8"/>
            </a:solidFill>
            <a:prstDash val="solid"/>
            <a:headEnd type="none"/>
            <a:tailEnd type="triangle"/>
          </a:ln>
        </p:spPr>
      </p:sp>
      <p:sp>
        <p:nvSpPr>
          <p:cNvPr id="17" name="Shape 13"/>
          <p:cNvSpPr/>
          <p:nvPr/>
        </p:nvSpPr>
        <p:spPr>
          <a:xfrm>
            <a:off x="2761488" y="2542032"/>
            <a:ext cx="1874520" cy="1481328"/>
          </a:xfrm>
          <a:prstGeom prst="roundRect">
            <a:avLst>
              <a:gd name="adj" fmla="val 8025"/>
            </a:avLst>
          </a:prstGeom>
          <a:solidFill>
            <a:srgbClr val="0E2035"/>
          </a:solidFill>
          <a:ln w="12700">
            <a:solidFill>
              <a:srgbClr val="866DF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442716" y="274320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866DFF"/>
          </a:solidFill>
          <a:ln w="12700">
            <a:solidFill>
              <a:srgbClr val="866DFF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65611" y="2866095"/>
            <a:ext cx="266273" cy="266273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852928" y="340156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7FBFF"/>
                </a:solidFill>
              </a:rPr>
              <a:t>AI Orchestrator</a:t>
            </a:r>
            <a:endParaRPr lang="en-US" sz="1230" dirty="0"/>
          </a:p>
        </p:txBody>
      </p:sp>
      <p:sp>
        <p:nvSpPr>
          <p:cNvPr id="21" name="Text 16"/>
          <p:cNvSpPr/>
          <p:nvPr/>
        </p:nvSpPr>
        <p:spPr>
          <a:xfrm>
            <a:off x="2834640" y="3675888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8FA3BA"/>
                </a:solidFill>
              </a:rPr>
              <a:t>understands intent</a:t>
            </a:r>
            <a:endParaRPr lang="en-US" sz="840" dirty="0"/>
          </a:p>
        </p:txBody>
      </p:sp>
      <p:sp>
        <p:nvSpPr>
          <p:cNvPr id="22" name="Shape 17"/>
          <p:cNvSpPr/>
          <p:nvPr/>
        </p:nvSpPr>
        <p:spPr>
          <a:xfrm>
            <a:off x="4690872" y="3273552"/>
            <a:ext cx="320040" cy="0"/>
          </a:xfrm>
          <a:prstGeom prst="line">
            <a:avLst/>
          </a:prstGeom>
          <a:noFill/>
          <a:ln w="22860">
            <a:solidFill>
              <a:srgbClr val="42D9C8"/>
            </a:solidFill>
            <a:prstDash val="solid"/>
            <a:headEnd type="none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5084064" y="2542032"/>
            <a:ext cx="1874520" cy="1481328"/>
          </a:xfrm>
          <a:prstGeom prst="roundRect">
            <a:avLst>
              <a:gd name="adj" fmla="val 8025"/>
            </a:avLst>
          </a:prstGeom>
          <a:solidFill>
            <a:srgbClr val="0E2035"/>
          </a:solidFill>
          <a:ln w="12700">
            <a:solidFill>
              <a:srgbClr val="4E7CFF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5765292" y="274320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4E7CFF"/>
          </a:solidFill>
          <a:ln w="12700">
            <a:solidFill>
              <a:srgbClr val="4E7CFF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888187" y="2866095"/>
            <a:ext cx="266273" cy="266273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175504" y="340156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7FBFF"/>
                </a:solidFill>
              </a:rPr>
              <a:t>School RAG</a:t>
            </a:r>
            <a:endParaRPr lang="en-US" sz="1230" dirty="0"/>
          </a:p>
        </p:txBody>
      </p:sp>
      <p:sp>
        <p:nvSpPr>
          <p:cNvPr id="27" name="Text 21"/>
          <p:cNvSpPr/>
          <p:nvPr/>
        </p:nvSpPr>
        <p:spPr>
          <a:xfrm>
            <a:off x="5157216" y="3675888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8FA3BA"/>
                </a:solidFill>
              </a:rPr>
              <a:t>catalog + loans + policy</a:t>
            </a:r>
            <a:endParaRPr lang="en-US" sz="840" dirty="0"/>
          </a:p>
        </p:txBody>
      </p:sp>
      <p:sp>
        <p:nvSpPr>
          <p:cNvPr id="28" name="Shape 22"/>
          <p:cNvSpPr/>
          <p:nvPr/>
        </p:nvSpPr>
        <p:spPr>
          <a:xfrm>
            <a:off x="7013448" y="3273552"/>
            <a:ext cx="320040" cy="0"/>
          </a:xfrm>
          <a:prstGeom prst="line">
            <a:avLst/>
          </a:prstGeom>
          <a:noFill/>
          <a:ln w="22860">
            <a:solidFill>
              <a:srgbClr val="42D9C8"/>
            </a:solidFill>
            <a:prstDash val="solid"/>
            <a:headEnd type="none"/>
            <a:tailEnd type="triangle"/>
          </a:ln>
        </p:spPr>
      </p:sp>
      <p:sp>
        <p:nvSpPr>
          <p:cNvPr id="29" name="Shape 23"/>
          <p:cNvSpPr/>
          <p:nvPr/>
        </p:nvSpPr>
        <p:spPr>
          <a:xfrm>
            <a:off x="7406640" y="2542032"/>
            <a:ext cx="1874520" cy="1481328"/>
          </a:xfrm>
          <a:prstGeom prst="roundRect">
            <a:avLst>
              <a:gd name="adj" fmla="val 8025"/>
            </a:avLst>
          </a:prstGeom>
          <a:solidFill>
            <a:srgbClr val="0E2035"/>
          </a:solidFill>
          <a:ln w="12700">
            <a:solidFill>
              <a:srgbClr val="5DE2A5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8087868" y="274320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5DE2A5"/>
          </a:solidFill>
          <a:ln w="12700">
            <a:solidFill>
              <a:srgbClr val="5DE2A5"/>
            </a:solidFill>
            <a:prstDash val="solid"/>
          </a:ln>
        </p:spPr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10763" y="2866095"/>
            <a:ext cx="266273" cy="266273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7498080" y="340156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7FBFF"/>
                </a:solidFill>
              </a:rPr>
              <a:t>Safety Layer</a:t>
            </a:r>
            <a:endParaRPr lang="en-US" sz="1230" dirty="0"/>
          </a:p>
        </p:txBody>
      </p:sp>
      <p:sp>
        <p:nvSpPr>
          <p:cNvPr id="33" name="Text 26"/>
          <p:cNvSpPr/>
          <p:nvPr/>
        </p:nvSpPr>
        <p:spPr>
          <a:xfrm>
            <a:off x="7479792" y="3675888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8FA3BA"/>
                </a:solidFill>
              </a:rPr>
              <a:t>age / role / approval</a:t>
            </a:r>
            <a:endParaRPr lang="en-US" sz="840" dirty="0"/>
          </a:p>
        </p:txBody>
      </p:sp>
      <p:sp>
        <p:nvSpPr>
          <p:cNvPr id="34" name="Shape 27"/>
          <p:cNvSpPr/>
          <p:nvPr/>
        </p:nvSpPr>
        <p:spPr>
          <a:xfrm>
            <a:off x="9336024" y="3273552"/>
            <a:ext cx="320040" cy="0"/>
          </a:xfrm>
          <a:prstGeom prst="line">
            <a:avLst/>
          </a:prstGeom>
          <a:noFill/>
          <a:ln w="22860">
            <a:solidFill>
              <a:srgbClr val="42D9C8"/>
            </a:solidFill>
            <a:prstDash val="solid"/>
            <a:headEnd type="none"/>
            <a:tailEnd type="triangle"/>
          </a:ln>
        </p:spPr>
      </p:sp>
      <p:sp>
        <p:nvSpPr>
          <p:cNvPr id="35" name="Shape 28"/>
          <p:cNvSpPr/>
          <p:nvPr/>
        </p:nvSpPr>
        <p:spPr>
          <a:xfrm>
            <a:off x="9729216" y="2542032"/>
            <a:ext cx="1783080" cy="1481328"/>
          </a:xfrm>
          <a:prstGeom prst="roundRect">
            <a:avLst>
              <a:gd name="adj" fmla="val 8025"/>
            </a:avLst>
          </a:prstGeom>
          <a:solidFill>
            <a:srgbClr val="0E2035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10364724" y="2743200"/>
            <a:ext cx="512064" cy="512064"/>
          </a:xfrm>
          <a:prstGeom prst="roundRect">
            <a:avLst>
              <a:gd name="adj" fmla="val 17857"/>
            </a:avLst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pic>
        <p:nvPicPr>
          <p:cNvPr id="37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87619" y="2866095"/>
            <a:ext cx="266273" cy="266273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9820656" y="34015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F7FBFF"/>
                </a:solidFill>
              </a:rPr>
              <a:t>Response / action</a:t>
            </a:r>
            <a:endParaRPr lang="en-US" sz="1230" dirty="0"/>
          </a:p>
        </p:txBody>
      </p:sp>
      <p:sp>
        <p:nvSpPr>
          <p:cNvPr id="39" name="Text 31"/>
          <p:cNvSpPr/>
          <p:nvPr/>
        </p:nvSpPr>
        <p:spPr>
          <a:xfrm>
            <a:off x="9802368" y="3675888"/>
            <a:ext cx="1636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8FA3BA"/>
                </a:solidFill>
              </a:rPr>
              <a:t>explainable and auditable</a:t>
            </a:r>
            <a:endParaRPr lang="en-US" sz="840" dirty="0"/>
          </a:p>
        </p:txBody>
      </p:sp>
      <p:sp>
        <p:nvSpPr>
          <p:cNvPr id="40" name="Shape 32"/>
          <p:cNvSpPr/>
          <p:nvPr/>
        </p:nvSpPr>
        <p:spPr>
          <a:xfrm>
            <a:off x="676656" y="4462272"/>
            <a:ext cx="2359152" cy="1261872"/>
          </a:xfrm>
          <a:prstGeom prst="roundRect">
            <a:avLst>
              <a:gd name="adj" fmla="val 9420"/>
            </a:avLst>
          </a:prstGeom>
          <a:solidFill>
            <a:srgbClr val="0C1C2E"/>
          </a:solidFill>
          <a:ln w="12700">
            <a:solidFill>
              <a:srgbClr val="25425C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1" name="Shape 33"/>
          <p:cNvSpPr/>
          <p:nvPr/>
        </p:nvSpPr>
        <p:spPr>
          <a:xfrm>
            <a:off x="859536" y="471830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42C45"/>
          </a:solidFill>
          <a:ln w="12700">
            <a:solidFill>
              <a:srgbClr val="142C45"/>
            </a:solidFill>
            <a:prstDash val="solid"/>
          </a:ln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64875" y="4823643"/>
            <a:ext cx="228234" cy="228234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1426464" y="46817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b="1" dirty="0">
                <a:solidFill>
                  <a:srgbClr val="F7FBFF"/>
                </a:solidFill>
              </a:rPr>
              <a:t>Multi-tenancy</a:t>
            </a:r>
            <a:endParaRPr lang="en-US" sz="1170" dirty="0"/>
          </a:p>
        </p:txBody>
      </p:sp>
      <p:sp>
        <p:nvSpPr>
          <p:cNvPr id="44" name="Text 35"/>
          <p:cNvSpPr/>
          <p:nvPr/>
        </p:nvSpPr>
        <p:spPr>
          <a:xfrm>
            <a:off x="859536" y="5102352"/>
            <a:ext cx="19476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8FA3BA"/>
                </a:solidFill>
              </a:rPr>
              <a:t>Each school’s data is strictly isolated.</a:t>
            </a:r>
            <a:endParaRPr lang="en-US" sz="910" dirty="0"/>
          </a:p>
        </p:txBody>
      </p:sp>
      <p:sp>
        <p:nvSpPr>
          <p:cNvPr id="45" name="Shape 36"/>
          <p:cNvSpPr/>
          <p:nvPr/>
        </p:nvSpPr>
        <p:spPr>
          <a:xfrm>
            <a:off x="3502152" y="4462272"/>
            <a:ext cx="2359152" cy="1261872"/>
          </a:xfrm>
          <a:prstGeom prst="roundRect">
            <a:avLst>
              <a:gd name="adj" fmla="val 9420"/>
            </a:avLst>
          </a:prstGeom>
          <a:solidFill>
            <a:srgbClr val="0C1C2E"/>
          </a:solidFill>
          <a:ln w="12700">
            <a:solidFill>
              <a:srgbClr val="25425C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46" name="Shape 37"/>
          <p:cNvSpPr/>
          <p:nvPr/>
        </p:nvSpPr>
        <p:spPr>
          <a:xfrm>
            <a:off x="3685032" y="471830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42C45"/>
          </a:solidFill>
          <a:ln w="12700">
            <a:solidFill>
              <a:srgbClr val="142C45"/>
            </a:solidFill>
            <a:prstDash val="solid"/>
          </a:ln>
        </p:spPr>
      </p:sp>
      <p:pic>
        <p:nvPicPr>
          <p:cNvPr id="47" name="Image 7" descr="preencoded.png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3790371" y="4823643"/>
            <a:ext cx="228234" cy="228234"/>
          </a:xfrm>
          <a:prstGeom prst="rect">
            <a:avLst/>
          </a:prstGeom>
        </p:spPr>
      </p:pic>
      <p:sp>
        <p:nvSpPr>
          <p:cNvPr id="48" name="Text 38"/>
          <p:cNvSpPr/>
          <p:nvPr/>
        </p:nvSpPr>
        <p:spPr>
          <a:xfrm>
            <a:off x="4251960" y="46817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b="1" dirty="0">
                <a:solidFill>
                  <a:srgbClr val="F7FBFF"/>
                </a:solidFill>
              </a:rPr>
              <a:t>No writes without approval</a:t>
            </a:r>
            <a:endParaRPr lang="en-US" sz="1170" dirty="0"/>
          </a:p>
        </p:txBody>
      </p:sp>
      <p:sp>
        <p:nvSpPr>
          <p:cNvPr id="49" name="Text 39"/>
          <p:cNvSpPr/>
          <p:nvPr/>
        </p:nvSpPr>
        <p:spPr>
          <a:xfrm>
            <a:off x="3685032" y="5102352"/>
            <a:ext cx="19476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8FA3BA"/>
                </a:solidFill>
              </a:rPr>
              <a:t>AI never changes the database silently.</a:t>
            </a:r>
            <a:endParaRPr lang="en-US" sz="910" dirty="0"/>
          </a:p>
        </p:txBody>
      </p:sp>
      <p:sp>
        <p:nvSpPr>
          <p:cNvPr id="50" name="Shape 40"/>
          <p:cNvSpPr/>
          <p:nvPr/>
        </p:nvSpPr>
        <p:spPr>
          <a:xfrm>
            <a:off x="6327648" y="4462272"/>
            <a:ext cx="2359152" cy="1261872"/>
          </a:xfrm>
          <a:prstGeom prst="roundRect">
            <a:avLst>
              <a:gd name="adj" fmla="val 9420"/>
            </a:avLst>
          </a:prstGeom>
          <a:solidFill>
            <a:srgbClr val="0C1C2E"/>
          </a:solidFill>
          <a:ln w="12700">
            <a:solidFill>
              <a:srgbClr val="25425C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1" name="Shape 41"/>
          <p:cNvSpPr/>
          <p:nvPr/>
        </p:nvSpPr>
        <p:spPr>
          <a:xfrm>
            <a:off x="6510528" y="471830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42C45"/>
          </a:solidFill>
          <a:ln w="12700">
            <a:solidFill>
              <a:srgbClr val="142C45"/>
            </a:solidFill>
            <a:prstDash val="solid"/>
          </a:ln>
        </p:spPr>
      </p:sp>
      <p:pic>
        <p:nvPicPr>
          <p:cNvPr id="52" name="Image 8" descr="preencoded.png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615867" y="4823643"/>
            <a:ext cx="228234" cy="228234"/>
          </a:xfrm>
          <a:prstGeom prst="rect">
            <a:avLst/>
          </a:prstGeom>
        </p:spPr>
      </p:pic>
      <p:sp>
        <p:nvSpPr>
          <p:cNvPr id="53" name="Text 42"/>
          <p:cNvSpPr/>
          <p:nvPr/>
        </p:nvSpPr>
        <p:spPr>
          <a:xfrm>
            <a:off x="7077456" y="46817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b="1" dirty="0">
                <a:solidFill>
                  <a:srgbClr val="F7FBFF"/>
                </a:solidFill>
              </a:rPr>
              <a:t>Audit log</a:t>
            </a:r>
            <a:endParaRPr lang="en-US" sz="1170" dirty="0"/>
          </a:p>
        </p:txBody>
      </p:sp>
      <p:sp>
        <p:nvSpPr>
          <p:cNvPr id="54" name="Text 43"/>
          <p:cNvSpPr/>
          <p:nvPr/>
        </p:nvSpPr>
        <p:spPr>
          <a:xfrm>
            <a:off x="6510528" y="5102352"/>
            <a:ext cx="19476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8FA3BA"/>
                </a:solidFill>
              </a:rPr>
              <a:t>Who asked what, and when, is recorded.</a:t>
            </a:r>
            <a:endParaRPr lang="en-US" sz="910" dirty="0"/>
          </a:p>
        </p:txBody>
      </p:sp>
      <p:sp>
        <p:nvSpPr>
          <p:cNvPr id="55" name="Shape 44"/>
          <p:cNvSpPr/>
          <p:nvPr/>
        </p:nvSpPr>
        <p:spPr>
          <a:xfrm>
            <a:off x="9153144" y="4462272"/>
            <a:ext cx="2359152" cy="1261872"/>
          </a:xfrm>
          <a:prstGeom prst="roundRect">
            <a:avLst>
              <a:gd name="adj" fmla="val 9420"/>
            </a:avLst>
          </a:prstGeom>
          <a:solidFill>
            <a:srgbClr val="0C1C2E"/>
          </a:solidFill>
          <a:ln w="12700">
            <a:solidFill>
              <a:srgbClr val="25425C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56" name="Shape 45"/>
          <p:cNvSpPr/>
          <p:nvPr/>
        </p:nvSpPr>
        <p:spPr>
          <a:xfrm>
            <a:off x="9336024" y="4718304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142C45"/>
          </a:solidFill>
          <a:ln w="12700">
            <a:solidFill>
              <a:srgbClr val="142C45"/>
            </a:solidFill>
            <a:prstDash val="solid"/>
          </a:ln>
        </p:spPr>
      </p:sp>
      <p:pic>
        <p:nvPicPr>
          <p:cNvPr id="57" name="Image 9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441363" y="4823643"/>
            <a:ext cx="228234" cy="228234"/>
          </a:xfrm>
          <a:prstGeom prst="rect">
            <a:avLst/>
          </a:prstGeom>
        </p:spPr>
      </p:pic>
      <p:sp>
        <p:nvSpPr>
          <p:cNvPr id="58" name="Text 46"/>
          <p:cNvSpPr/>
          <p:nvPr/>
        </p:nvSpPr>
        <p:spPr>
          <a:xfrm>
            <a:off x="9902952" y="468172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70" b="1" dirty="0">
                <a:solidFill>
                  <a:srgbClr val="F7FBFF"/>
                </a:solidFill>
              </a:rPr>
              <a:t>Grounded answers</a:t>
            </a:r>
            <a:endParaRPr lang="en-US" sz="1170" dirty="0"/>
          </a:p>
        </p:txBody>
      </p:sp>
      <p:sp>
        <p:nvSpPr>
          <p:cNvPr id="59" name="Text 47"/>
          <p:cNvSpPr/>
          <p:nvPr/>
        </p:nvSpPr>
        <p:spPr>
          <a:xfrm>
            <a:off x="9336024" y="5102352"/>
            <a:ext cx="194767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8FA3BA"/>
                </a:solidFill>
              </a:rPr>
              <a:t>Answers are based on the real collection and authorized data.</a:t>
            </a:r>
            <a:endParaRPr lang="en-US" sz="910" dirty="0"/>
          </a:p>
        </p:txBody>
      </p:sp>
      <p:sp>
        <p:nvSpPr>
          <p:cNvPr id="60" name="Text 48"/>
          <p:cNvSpPr/>
          <p:nvPr/>
        </p:nvSpPr>
        <p:spPr>
          <a:xfrm>
            <a:off x="676656" y="6007608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42D9C8"/>
                </a:solidFill>
              </a:rPr>
              <a:t>Technical advantage:</a:t>
            </a:r>
            <a:endParaRPr lang="en-US" sz="1050" dirty="0"/>
          </a:p>
        </p:txBody>
      </p:sp>
      <p:sp>
        <p:nvSpPr>
          <p:cNvPr id="61" name="Text 49"/>
          <p:cNvSpPr/>
          <p:nvPr/>
        </p:nvSpPr>
        <p:spPr>
          <a:xfrm>
            <a:off x="1801368" y="5971032"/>
            <a:ext cx="6629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20" b="1" dirty="0">
                <a:solidFill>
                  <a:srgbClr val="DDE8F4"/>
                </a:solidFill>
              </a:rPr>
              <a:t>local language + Telegram UX + school-specific data + human-in-the-loop</a:t>
            </a:r>
            <a:endParaRPr lang="en-US" sz="1120" dirty="0"/>
          </a:p>
        </p:txBody>
      </p:sp>
      <p:sp>
        <p:nvSpPr>
          <p:cNvPr id="62" name="Shape 50"/>
          <p:cNvSpPr/>
          <p:nvPr/>
        </p:nvSpPr>
        <p:spPr>
          <a:xfrm>
            <a:off x="8778240" y="5907024"/>
            <a:ext cx="2688336" cy="292608"/>
          </a:xfrm>
          <a:prstGeom prst="roundRect">
            <a:avLst>
              <a:gd name="adj" fmla="val 50000"/>
            </a:avLst>
          </a:prstGeom>
          <a:solidFill>
            <a:srgbClr val="102A42"/>
          </a:solidFill>
          <a:ln w="8890">
            <a:solidFill>
              <a:srgbClr val="203A53"/>
            </a:solidFill>
            <a:prstDash val="solid"/>
          </a:ln>
        </p:spPr>
      </p:sp>
      <p:sp>
        <p:nvSpPr>
          <p:cNvPr id="63" name="Text 51"/>
          <p:cNvSpPr/>
          <p:nvPr/>
        </p:nvSpPr>
        <p:spPr>
          <a:xfrm>
            <a:off x="8842248" y="5966460"/>
            <a:ext cx="25603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7FBFF"/>
                </a:solidFill>
              </a:rPr>
              <a:t>AI GOAL: A TRUSTED ASSISTANT</a:t>
            </a:r>
            <a:endParaRPr lang="en-US" sz="960" dirty="0"/>
          </a:p>
        </p:txBody>
      </p:sp>
      <p:sp>
        <p:nvSpPr>
          <p:cNvPr id="6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F8D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93808" y="73152"/>
            <a:ext cx="2212848" cy="2212848"/>
          </a:xfrm>
          <a:prstGeom prst="ellipse">
            <a:avLst/>
          </a:prstGeom>
          <a:solidFill>
            <a:srgbClr val="4E7CFF">
              <a:alpha val="17000"/>
            </a:srgbClr>
          </a:solidFill>
          <a:ln w="12700">
            <a:solidFill>
              <a:srgbClr val="4E7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" y="5413248"/>
            <a:ext cx="1444752" cy="1325880"/>
          </a:xfrm>
          <a:prstGeom prst="ellipse">
            <a:avLst/>
          </a:prstGeom>
          <a:solidFill>
            <a:srgbClr val="42D9C8">
              <a:alpha val="12000"/>
            </a:srgbClr>
          </a:solidFill>
          <a:ln w="12700">
            <a:solidFill>
              <a:srgbClr val="42D9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42D9C8"/>
          </a:solidFill>
          <a:ln w="12700">
            <a:solidFill>
              <a:srgbClr val="42D9C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632" y="34747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6517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LibCloud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09928" y="265176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2D9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822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42D9C8"/>
                </a:solidFill>
              </a:rPr>
              <a:t>MARKET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07899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Large market, simple monetization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94360" y="1755648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8FA3BA"/>
                </a:solidFill>
              </a:rPr>
              <a:t>AI increases platform value and creates a new premium layer.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58368" y="2359152"/>
            <a:ext cx="3703320" cy="3493008"/>
          </a:xfrm>
          <a:prstGeom prst="roundRect">
            <a:avLst>
              <a:gd name="adj" fmla="val 3403"/>
            </a:avLst>
          </a:prstGeom>
          <a:solidFill>
            <a:srgbClr val="0B1A2C"/>
          </a:solidFill>
          <a:ln w="12700">
            <a:solidFill>
              <a:srgbClr val="24405B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941832" y="2670048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7FBFF"/>
                </a:solidFill>
              </a:rPr>
              <a:t>Uzbekistan market opportunity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941832" y="320040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42D9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10K+</a:t>
            </a:r>
            <a:endParaRPr lang="en-US" sz="2900" dirty="0"/>
          </a:p>
        </p:txBody>
      </p:sp>
      <p:sp>
        <p:nvSpPr>
          <p:cNvPr id="14" name="Text 11"/>
          <p:cNvSpPr/>
          <p:nvPr/>
        </p:nvSpPr>
        <p:spPr>
          <a:xfrm>
            <a:off x="941832" y="36576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FA3BA"/>
                </a:solidFill>
              </a:rPr>
              <a:t>general education schools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523744" y="3200400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4E7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6M+</a:t>
            </a:r>
            <a:endParaRPr lang="en-US" sz="2900" dirty="0"/>
          </a:p>
        </p:txBody>
      </p:sp>
      <p:sp>
        <p:nvSpPr>
          <p:cNvPr id="16" name="Text 13"/>
          <p:cNvSpPr/>
          <p:nvPr/>
        </p:nvSpPr>
        <p:spPr>
          <a:xfrm>
            <a:off x="2523744" y="3657600"/>
            <a:ext cx="1234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8FA3BA"/>
                </a:solidFill>
              </a:rPr>
              <a:t>potential students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41832" y="4178808"/>
            <a:ext cx="2926080" cy="0"/>
          </a:xfrm>
          <a:prstGeom prst="line">
            <a:avLst/>
          </a:prstGeom>
          <a:noFill/>
          <a:ln w="12700">
            <a:solidFill>
              <a:srgbClr val="29476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1832" y="4462272"/>
            <a:ext cx="137160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FA3BA"/>
                </a:solidFill>
              </a:rPr>
              <a:t>Starting point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941832" y="473659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C857"/>
                </a:solidFill>
              </a:rPr>
              <a:t>Jizzakh — pilot region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941832" y="5148072"/>
            <a:ext cx="2880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DDE8F4"/>
                </a:solidFill>
              </a:rPr>
              <a:t>Pilot → regional partnerships → nationwide scale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736592" y="2359152"/>
            <a:ext cx="6812280" cy="960120"/>
          </a:xfrm>
          <a:prstGeom prst="roundRect">
            <a:avLst>
              <a:gd name="adj" fmla="val 12381"/>
            </a:avLst>
          </a:prstGeom>
          <a:solidFill>
            <a:srgbClr val="0E2035"/>
          </a:solidFill>
          <a:ln w="12700">
            <a:solidFill>
              <a:srgbClr val="203A5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92624" y="2569464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2D9C8"/>
                </a:solidFill>
              </a:rPr>
              <a:t>01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5522976" y="250545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7FBFF"/>
                </a:solidFill>
              </a:rPr>
              <a:t>School subscription</a:t>
            </a:r>
            <a:endParaRPr lang="en-US" sz="1450" dirty="0"/>
          </a:p>
        </p:txBody>
      </p:sp>
      <p:sp>
        <p:nvSpPr>
          <p:cNvPr id="24" name="Text 21"/>
          <p:cNvSpPr/>
          <p:nvPr/>
        </p:nvSpPr>
        <p:spPr>
          <a:xfrm>
            <a:off x="7607808" y="252374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b="1" dirty="0">
                <a:solidFill>
                  <a:srgbClr val="42D9C8"/>
                </a:solidFill>
              </a:rPr>
              <a:t>UZS 3–5M / academic year</a:t>
            </a:r>
            <a:endParaRPr lang="en-US" sz="1110" dirty="0"/>
          </a:p>
        </p:txBody>
      </p:sp>
      <p:sp>
        <p:nvSpPr>
          <p:cNvPr id="25" name="Text 22"/>
          <p:cNvSpPr/>
          <p:nvPr/>
        </p:nvSpPr>
        <p:spPr>
          <a:xfrm>
            <a:off x="5522976" y="2843784"/>
            <a:ext cx="5431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8FA3BA"/>
                </a:solidFill>
              </a:rPr>
              <a:t>Unlimited use with administrative control.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4736592" y="3547872"/>
            <a:ext cx="6812280" cy="960120"/>
          </a:xfrm>
          <a:prstGeom prst="roundRect">
            <a:avLst>
              <a:gd name="adj" fmla="val 12381"/>
            </a:avLst>
          </a:prstGeom>
          <a:solidFill>
            <a:srgbClr val="0E2035"/>
          </a:solidFill>
          <a:ln w="12700">
            <a:solidFill>
              <a:srgbClr val="203A5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992624" y="3758184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E7CFF"/>
                </a:solidFill>
              </a:rPr>
              <a:t>02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5522976" y="369417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7FBFF"/>
                </a:solidFill>
              </a:rPr>
              <a:t>Student micro-payment</a:t>
            </a:r>
            <a:endParaRPr lang="en-US" sz="1450" dirty="0"/>
          </a:p>
        </p:txBody>
      </p:sp>
      <p:sp>
        <p:nvSpPr>
          <p:cNvPr id="29" name="Text 26"/>
          <p:cNvSpPr/>
          <p:nvPr/>
        </p:nvSpPr>
        <p:spPr>
          <a:xfrm>
            <a:off x="7607808" y="371246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b="1" dirty="0">
                <a:solidFill>
                  <a:srgbClr val="4E7CFF"/>
                </a:solidFill>
              </a:rPr>
              <a:t>UZS 5–10K / year</a:t>
            </a:r>
            <a:endParaRPr lang="en-US" sz="1110" dirty="0"/>
          </a:p>
        </p:txBody>
      </p:sp>
      <p:sp>
        <p:nvSpPr>
          <p:cNvPr id="30" name="Text 27"/>
          <p:cNvSpPr/>
          <p:nvPr/>
        </p:nvSpPr>
        <p:spPr>
          <a:xfrm>
            <a:off x="5522976" y="4032504"/>
            <a:ext cx="5431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8FA3BA"/>
                </a:solidFill>
              </a:rPr>
              <a:t>For schools without a centralized budget.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4736592" y="4736592"/>
            <a:ext cx="6812280" cy="960120"/>
          </a:xfrm>
          <a:prstGeom prst="roundRect">
            <a:avLst>
              <a:gd name="adj" fmla="val 12381"/>
            </a:avLst>
          </a:prstGeom>
          <a:solidFill>
            <a:srgbClr val="0E2035"/>
          </a:solidFill>
          <a:ln w="12700">
            <a:solidFill>
              <a:srgbClr val="203A5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4992624" y="4946904"/>
            <a:ext cx="4206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66DFF"/>
                </a:solidFill>
              </a:rPr>
              <a:t>03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5522976" y="4882896"/>
            <a:ext cx="2011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50" b="1" dirty="0">
                <a:solidFill>
                  <a:srgbClr val="F7FBFF"/>
                </a:solidFill>
              </a:rPr>
              <a:t>AI Pro &amp; partnerships</a:t>
            </a:r>
            <a:endParaRPr lang="en-US" sz="1450" dirty="0"/>
          </a:p>
        </p:txBody>
      </p:sp>
      <p:sp>
        <p:nvSpPr>
          <p:cNvPr id="34" name="Text 31"/>
          <p:cNvSpPr/>
          <p:nvPr/>
        </p:nvSpPr>
        <p:spPr>
          <a:xfrm>
            <a:off x="7607808" y="4901184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10" b="1" dirty="0">
                <a:solidFill>
                  <a:srgbClr val="866DFF"/>
                </a:solidFill>
              </a:rPr>
              <a:t>Premium module / B2B advertising</a:t>
            </a:r>
            <a:endParaRPr lang="en-US" sz="1110" dirty="0"/>
          </a:p>
        </p:txBody>
      </p:sp>
      <p:sp>
        <p:nvSpPr>
          <p:cNvPr id="35" name="Text 32"/>
          <p:cNvSpPr/>
          <p:nvPr/>
        </p:nvSpPr>
        <p:spPr>
          <a:xfrm>
            <a:off x="5522976" y="5221224"/>
            <a:ext cx="5431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8FA3BA"/>
                </a:solidFill>
              </a:rPr>
              <a:t>Additional ARR from recommendations, analytics, and partnerships.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4764024" y="5980176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42D9C8"/>
          </a:solidFill>
          <a:ln w="8890">
            <a:solidFill>
              <a:srgbClr val="42D9C8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828032" y="6039612"/>
            <a:ext cx="10149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7111F"/>
                </a:solidFill>
              </a:rPr>
              <a:t>B2B CORE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6044184" y="5980176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173456"/>
          </a:solidFill>
          <a:ln w="8890">
            <a:solidFill>
              <a:srgbClr val="31506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108192" y="6039612"/>
            <a:ext cx="101498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79F4E7"/>
                </a:solidFill>
              </a:rPr>
              <a:t>B2C FLEX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7324344" y="5980176"/>
            <a:ext cx="1207008" cy="292608"/>
          </a:xfrm>
          <a:prstGeom prst="roundRect">
            <a:avLst>
              <a:gd name="adj" fmla="val 50000"/>
            </a:avLst>
          </a:prstGeom>
          <a:solidFill>
            <a:srgbClr val="2A2146"/>
          </a:solidFill>
          <a:ln w="8890">
            <a:solidFill>
              <a:srgbClr val="4F3D7C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388352" y="6039612"/>
            <a:ext cx="107899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7CCFF"/>
                </a:solidFill>
              </a:rPr>
              <a:t>AI UPSIDE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8823960" y="5998464"/>
            <a:ext cx="2487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DDE8F4"/>
                </a:solidFill>
              </a:rPr>
              <a:t>Diversification = resilience</a:t>
            </a:r>
            <a:endParaRPr lang="en-US" sz="105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F8D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93808" y="73152"/>
            <a:ext cx="2212848" cy="2212848"/>
          </a:xfrm>
          <a:prstGeom prst="ellipse">
            <a:avLst/>
          </a:prstGeom>
          <a:solidFill>
            <a:srgbClr val="4E7CFF">
              <a:alpha val="17000"/>
            </a:srgbClr>
          </a:solidFill>
          <a:ln w="12700">
            <a:solidFill>
              <a:srgbClr val="4E7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" y="5413248"/>
            <a:ext cx="1444752" cy="1325880"/>
          </a:xfrm>
          <a:prstGeom prst="ellipse">
            <a:avLst/>
          </a:prstGeom>
          <a:solidFill>
            <a:srgbClr val="42D9C8">
              <a:alpha val="12000"/>
            </a:srgbClr>
          </a:solidFill>
          <a:ln w="12700">
            <a:solidFill>
              <a:srgbClr val="42D9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42D9C8"/>
          </a:solidFill>
          <a:ln w="12700">
            <a:solidFill>
              <a:srgbClr val="42D9C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632" y="34747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6517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LibCloud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09928" y="265176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2D9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822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42D9C8"/>
                </a:solidFill>
              </a:rPr>
              <a:t>ADVANTAGE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07899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LibCloud AI wins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94360" y="1755648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8FA3BA"/>
                </a:solidFill>
              </a:rPr>
              <a:t>Fast deployment, local UX, and a data flywheel that gets stronger with usage.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58368" y="2395728"/>
            <a:ext cx="2980944" cy="512064"/>
          </a:xfrm>
          <a:prstGeom prst="rect">
            <a:avLst/>
          </a:prstGeom>
          <a:solidFill>
            <a:srgbClr val="12263A"/>
          </a:solidFill>
          <a:ln w="12700">
            <a:solidFill>
              <a:srgbClr val="203A5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8096" y="2542032"/>
            <a:ext cx="27614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7FBFF"/>
                </a:solidFill>
              </a:rPr>
              <a:t>Criteria</a:t>
            </a:r>
            <a:endParaRPr lang="en-US" sz="1080" dirty="0"/>
          </a:p>
        </p:txBody>
      </p:sp>
      <p:sp>
        <p:nvSpPr>
          <p:cNvPr id="13" name="Shape 10"/>
          <p:cNvSpPr/>
          <p:nvPr/>
        </p:nvSpPr>
        <p:spPr>
          <a:xfrm>
            <a:off x="3639312" y="2395728"/>
            <a:ext cx="2377440" cy="512064"/>
          </a:xfrm>
          <a:prstGeom prst="rect">
            <a:avLst/>
          </a:prstGeom>
          <a:solidFill>
            <a:srgbClr val="12263A"/>
          </a:solidFill>
          <a:ln w="12700">
            <a:solidFill>
              <a:srgbClr val="203A5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749040" y="2542032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7FBFF"/>
                </a:solidFill>
              </a:rPr>
              <a:t>Paper log</a:t>
            </a:r>
            <a:endParaRPr lang="en-US" sz="1080" dirty="0"/>
          </a:p>
        </p:txBody>
      </p:sp>
      <p:sp>
        <p:nvSpPr>
          <p:cNvPr id="15" name="Shape 12"/>
          <p:cNvSpPr/>
          <p:nvPr/>
        </p:nvSpPr>
        <p:spPr>
          <a:xfrm>
            <a:off x="6016752" y="2395728"/>
            <a:ext cx="2377440" cy="512064"/>
          </a:xfrm>
          <a:prstGeom prst="rect">
            <a:avLst/>
          </a:prstGeom>
          <a:solidFill>
            <a:srgbClr val="12263A"/>
          </a:solidFill>
          <a:ln w="12700">
            <a:solidFill>
              <a:srgbClr val="203A5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126480" y="2542032"/>
            <a:ext cx="21579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7FBFF"/>
                </a:solidFill>
              </a:rPr>
              <a:t>Complex local system</a:t>
            </a:r>
            <a:endParaRPr lang="en-US" sz="1080" dirty="0"/>
          </a:p>
        </p:txBody>
      </p:sp>
      <p:sp>
        <p:nvSpPr>
          <p:cNvPr id="17" name="Shape 14"/>
          <p:cNvSpPr/>
          <p:nvPr/>
        </p:nvSpPr>
        <p:spPr>
          <a:xfrm>
            <a:off x="8394192" y="2395728"/>
            <a:ext cx="2761488" cy="512064"/>
          </a:xfrm>
          <a:prstGeom prst="rect">
            <a:avLst/>
          </a:prstGeom>
          <a:solidFill>
            <a:srgbClr val="42D9C8"/>
          </a:solidFill>
          <a:ln w="12700">
            <a:solidFill>
              <a:srgbClr val="203A5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03920" y="2542032"/>
            <a:ext cx="25420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7111F"/>
                </a:solidFill>
              </a:rPr>
              <a:t>LibCloud AI</a:t>
            </a:r>
            <a:endParaRPr lang="en-US" sz="1080" dirty="0"/>
          </a:p>
        </p:txBody>
      </p:sp>
      <p:sp>
        <p:nvSpPr>
          <p:cNvPr id="19" name="Shape 16"/>
          <p:cNvSpPr/>
          <p:nvPr/>
        </p:nvSpPr>
        <p:spPr>
          <a:xfrm>
            <a:off x="658368" y="2907792"/>
            <a:ext cx="2980944" cy="502920"/>
          </a:xfrm>
          <a:prstGeom prst="rect">
            <a:avLst/>
          </a:prstGeom>
          <a:solidFill>
            <a:srgbClr val="0D1E30"/>
          </a:solidFill>
          <a:ln w="8890">
            <a:solidFill>
              <a:srgbClr val="1E395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68096" y="3054096"/>
            <a:ext cx="2761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DDE8F4"/>
                </a:solidFill>
              </a:rPr>
              <a:t>Deployment</a:t>
            </a:r>
            <a:endParaRPr lang="en-US" sz="970" dirty="0"/>
          </a:p>
        </p:txBody>
      </p:sp>
      <p:sp>
        <p:nvSpPr>
          <p:cNvPr id="21" name="Shape 18"/>
          <p:cNvSpPr/>
          <p:nvPr/>
        </p:nvSpPr>
        <p:spPr>
          <a:xfrm>
            <a:off x="3639312" y="2907792"/>
            <a:ext cx="2377440" cy="502920"/>
          </a:xfrm>
          <a:prstGeom prst="rect">
            <a:avLst/>
          </a:prstGeom>
          <a:solidFill>
            <a:srgbClr val="0D1E30"/>
          </a:solidFill>
          <a:ln w="8890">
            <a:solidFill>
              <a:srgbClr val="1E395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749040" y="3054096"/>
            <a:ext cx="21579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8FA3BA"/>
                </a:solidFill>
              </a:rPr>
              <a:t>weeks</a:t>
            </a:r>
            <a:endParaRPr lang="en-US" sz="970" dirty="0"/>
          </a:p>
        </p:txBody>
      </p:sp>
      <p:sp>
        <p:nvSpPr>
          <p:cNvPr id="23" name="Shape 20"/>
          <p:cNvSpPr/>
          <p:nvPr/>
        </p:nvSpPr>
        <p:spPr>
          <a:xfrm>
            <a:off x="6016752" y="2907792"/>
            <a:ext cx="2377440" cy="502920"/>
          </a:xfrm>
          <a:prstGeom prst="rect">
            <a:avLst/>
          </a:prstGeom>
          <a:solidFill>
            <a:srgbClr val="0D1E30"/>
          </a:solidFill>
          <a:ln w="8890">
            <a:solidFill>
              <a:srgbClr val="1E395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26480" y="3054096"/>
            <a:ext cx="21579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8FA3BA"/>
                </a:solidFill>
              </a:rPr>
              <a:t>days / specialist</a:t>
            </a:r>
            <a:endParaRPr lang="en-US" sz="970" dirty="0"/>
          </a:p>
        </p:txBody>
      </p:sp>
      <p:sp>
        <p:nvSpPr>
          <p:cNvPr id="25" name="Shape 22"/>
          <p:cNvSpPr/>
          <p:nvPr/>
        </p:nvSpPr>
        <p:spPr>
          <a:xfrm>
            <a:off x="8394192" y="2907792"/>
            <a:ext cx="2761488" cy="502920"/>
          </a:xfrm>
          <a:prstGeom prst="rect">
            <a:avLst/>
          </a:prstGeom>
          <a:solidFill>
            <a:srgbClr val="123047"/>
          </a:solidFill>
          <a:ln w="8890">
            <a:solidFill>
              <a:srgbClr val="1E395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503920" y="3054096"/>
            <a:ext cx="2542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79F4E7"/>
                </a:solidFill>
              </a:rPr>
              <a:t>minutes</a:t>
            </a:r>
            <a:endParaRPr lang="en-US" sz="970" dirty="0"/>
          </a:p>
        </p:txBody>
      </p:sp>
      <p:sp>
        <p:nvSpPr>
          <p:cNvPr id="27" name="Shape 24"/>
          <p:cNvSpPr/>
          <p:nvPr/>
        </p:nvSpPr>
        <p:spPr>
          <a:xfrm>
            <a:off x="658368" y="3410712"/>
            <a:ext cx="2980944" cy="502920"/>
          </a:xfrm>
          <a:prstGeom prst="rect">
            <a:avLst/>
          </a:prstGeom>
          <a:solidFill>
            <a:srgbClr val="0B1929"/>
          </a:solidFill>
          <a:ln w="8890">
            <a:solidFill>
              <a:srgbClr val="1E395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8096" y="3557016"/>
            <a:ext cx="2761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DDE8F4"/>
                </a:solidFill>
              </a:rPr>
              <a:t>Via smartphone</a:t>
            </a:r>
            <a:endParaRPr lang="en-US" sz="970" dirty="0"/>
          </a:p>
        </p:txBody>
      </p:sp>
      <p:sp>
        <p:nvSpPr>
          <p:cNvPr id="29" name="Shape 26"/>
          <p:cNvSpPr/>
          <p:nvPr/>
        </p:nvSpPr>
        <p:spPr>
          <a:xfrm>
            <a:off x="3639312" y="3410712"/>
            <a:ext cx="2377440" cy="502920"/>
          </a:xfrm>
          <a:prstGeom prst="rect">
            <a:avLst/>
          </a:prstGeom>
          <a:solidFill>
            <a:srgbClr val="0B1929"/>
          </a:solidFill>
          <a:ln w="8890">
            <a:solidFill>
              <a:srgbClr val="1E395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749040" y="3557016"/>
            <a:ext cx="21579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8FA3BA"/>
                </a:solidFill>
              </a:rPr>
              <a:t>no</a:t>
            </a:r>
            <a:endParaRPr lang="en-US" sz="970" dirty="0"/>
          </a:p>
        </p:txBody>
      </p:sp>
      <p:sp>
        <p:nvSpPr>
          <p:cNvPr id="31" name="Shape 28"/>
          <p:cNvSpPr/>
          <p:nvPr/>
        </p:nvSpPr>
        <p:spPr>
          <a:xfrm>
            <a:off x="6016752" y="3410712"/>
            <a:ext cx="2377440" cy="502920"/>
          </a:xfrm>
          <a:prstGeom prst="rect">
            <a:avLst/>
          </a:prstGeom>
          <a:solidFill>
            <a:srgbClr val="0B1929"/>
          </a:solidFill>
          <a:ln w="8890">
            <a:solidFill>
              <a:srgbClr val="1E395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126480" y="3557016"/>
            <a:ext cx="21579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8FA3BA"/>
                </a:solidFill>
              </a:rPr>
              <a:t>limited</a:t>
            </a:r>
            <a:endParaRPr lang="en-US" sz="970" dirty="0"/>
          </a:p>
        </p:txBody>
      </p:sp>
      <p:sp>
        <p:nvSpPr>
          <p:cNvPr id="33" name="Shape 30"/>
          <p:cNvSpPr/>
          <p:nvPr/>
        </p:nvSpPr>
        <p:spPr>
          <a:xfrm>
            <a:off x="8394192" y="3410712"/>
            <a:ext cx="2761488" cy="502920"/>
          </a:xfrm>
          <a:prstGeom prst="rect">
            <a:avLst/>
          </a:prstGeom>
          <a:solidFill>
            <a:srgbClr val="0F2638"/>
          </a:solidFill>
          <a:ln w="8890">
            <a:solidFill>
              <a:srgbClr val="1E395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503920" y="3557016"/>
            <a:ext cx="2542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79F4E7"/>
                </a:solidFill>
              </a:rPr>
              <a:t>yes</a:t>
            </a:r>
            <a:endParaRPr lang="en-US" sz="970" dirty="0"/>
          </a:p>
        </p:txBody>
      </p:sp>
      <p:sp>
        <p:nvSpPr>
          <p:cNvPr id="35" name="Shape 32"/>
          <p:cNvSpPr/>
          <p:nvPr/>
        </p:nvSpPr>
        <p:spPr>
          <a:xfrm>
            <a:off x="658368" y="3913632"/>
            <a:ext cx="2980944" cy="502920"/>
          </a:xfrm>
          <a:prstGeom prst="rect">
            <a:avLst/>
          </a:prstGeom>
          <a:solidFill>
            <a:srgbClr val="0D1E30"/>
          </a:solidFill>
          <a:ln w="8890">
            <a:solidFill>
              <a:srgbClr val="1E395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68096" y="4059936"/>
            <a:ext cx="2761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DDE8F4"/>
                </a:solidFill>
              </a:rPr>
              <a:t>School-specific AI</a:t>
            </a:r>
            <a:endParaRPr lang="en-US" sz="970" dirty="0"/>
          </a:p>
        </p:txBody>
      </p:sp>
      <p:sp>
        <p:nvSpPr>
          <p:cNvPr id="37" name="Shape 34"/>
          <p:cNvSpPr/>
          <p:nvPr/>
        </p:nvSpPr>
        <p:spPr>
          <a:xfrm>
            <a:off x="3639312" y="3913632"/>
            <a:ext cx="2377440" cy="502920"/>
          </a:xfrm>
          <a:prstGeom prst="rect">
            <a:avLst/>
          </a:prstGeom>
          <a:solidFill>
            <a:srgbClr val="0D1E30"/>
          </a:solidFill>
          <a:ln w="8890">
            <a:solidFill>
              <a:srgbClr val="1E395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749040" y="4059936"/>
            <a:ext cx="21579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8FA3BA"/>
                </a:solidFill>
              </a:rPr>
              <a:t>no</a:t>
            </a:r>
            <a:endParaRPr lang="en-US" sz="970" dirty="0"/>
          </a:p>
        </p:txBody>
      </p:sp>
      <p:sp>
        <p:nvSpPr>
          <p:cNvPr id="39" name="Shape 36"/>
          <p:cNvSpPr/>
          <p:nvPr/>
        </p:nvSpPr>
        <p:spPr>
          <a:xfrm>
            <a:off x="6016752" y="3913632"/>
            <a:ext cx="2377440" cy="502920"/>
          </a:xfrm>
          <a:prstGeom prst="rect">
            <a:avLst/>
          </a:prstGeom>
          <a:solidFill>
            <a:srgbClr val="0D1E30"/>
          </a:solidFill>
          <a:ln w="8890">
            <a:solidFill>
              <a:srgbClr val="1E395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6126480" y="4059936"/>
            <a:ext cx="21579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8FA3BA"/>
                </a:solidFill>
              </a:rPr>
              <a:t>no</a:t>
            </a:r>
            <a:endParaRPr lang="en-US" sz="970" dirty="0"/>
          </a:p>
        </p:txBody>
      </p:sp>
      <p:sp>
        <p:nvSpPr>
          <p:cNvPr id="41" name="Shape 38"/>
          <p:cNvSpPr/>
          <p:nvPr/>
        </p:nvSpPr>
        <p:spPr>
          <a:xfrm>
            <a:off x="8394192" y="3913632"/>
            <a:ext cx="2761488" cy="502920"/>
          </a:xfrm>
          <a:prstGeom prst="rect">
            <a:avLst/>
          </a:prstGeom>
          <a:solidFill>
            <a:srgbClr val="123047"/>
          </a:solidFill>
          <a:ln w="8890">
            <a:solidFill>
              <a:srgbClr val="1E395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8503920" y="4059936"/>
            <a:ext cx="2542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79F4E7"/>
                </a:solidFill>
              </a:rPr>
              <a:t>yes</a:t>
            </a:r>
            <a:endParaRPr lang="en-US" sz="970" dirty="0"/>
          </a:p>
        </p:txBody>
      </p:sp>
      <p:sp>
        <p:nvSpPr>
          <p:cNvPr id="43" name="Shape 40"/>
          <p:cNvSpPr/>
          <p:nvPr/>
        </p:nvSpPr>
        <p:spPr>
          <a:xfrm>
            <a:off x="658368" y="4416552"/>
            <a:ext cx="2980944" cy="502920"/>
          </a:xfrm>
          <a:prstGeom prst="rect">
            <a:avLst/>
          </a:prstGeom>
          <a:solidFill>
            <a:srgbClr val="0B1929"/>
          </a:solidFill>
          <a:ln w="8890">
            <a:solidFill>
              <a:srgbClr val="1E395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68096" y="4562856"/>
            <a:ext cx="2761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DDE8F4"/>
                </a:solidFill>
              </a:rPr>
              <a:t>Real-time analytics</a:t>
            </a:r>
            <a:endParaRPr lang="en-US" sz="970" dirty="0"/>
          </a:p>
        </p:txBody>
      </p:sp>
      <p:sp>
        <p:nvSpPr>
          <p:cNvPr id="45" name="Shape 42"/>
          <p:cNvSpPr/>
          <p:nvPr/>
        </p:nvSpPr>
        <p:spPr>
          <a:xfrm>
            <a:off x="3639312" y="4416552"/>
            <a:ext cx="2377440" cy="502920"/>
          </a:xfrm>
          <a:prstGeom prst="rect">
            <a:avLst/>
          </a:prstGeom>
          <a:solidFill>
            <a:srgbClr val="0B1929"/>
          </a:solidFill>
          <a:ln w="8890">
            <a:solidFill>
              <a:srgbClr val="1E3952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749040" y="4562856"/>
            <a:ext cx="21579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8FA3BA"/>
                </a:solidFill>
              </a:rPr>
              <a:t>no</a:t>
            </a:r>
            <a:endParaRPr lang="en-US" sz="970" dirty="0"/>
          </a:p>
        </p:txBody>
      </p:sp>
      <p:sp>
        <p:nvSpPr>
          <p:cNvPr id="47" name="Shape 44"/>
          <p:cNvSpPr/>
          <p:nvPr/>
        </p:nvSpPr>
        <p:spPr>
          <a:xfrm>
            <a:off x="6016752" y="4416552"/>
            <a:ext cx="2377440" cy="502920"/>
          </a:xfrm>
          <a:prstGeom prst="rect">
            <a:avLst/>
          </a:prstGeom>
          <a:solidFill>
            <a:srgbClr val="0B1929"/>
          </a:solidFill>
          <a:ln w="8890">
            <a:solidFill>
              <a:srgbClr val="1E395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126480" y="4562856"/>
            <a:ext cx="21579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8FA3BA"/>
                </a:solidFill>
              </a:rPr>
              <a:t>partial</a:t>
            </a:r>
            <a:endParaRPr lang="en-US" sz="970" dirty="0"/>
          </a:p>
        </p:txBody>
      </p:sp>
      <p:sp>
        <p:nvSpPr>
          <p:cNvPr id="49" name="Shape 46"/>
          <p:cNvSpPr/>
          <p:nvPr/>
        </p:nvSpPr>
        <p:spPr>
          <a:xfrm>
            <a:off x="8394192" y="4416552"/>
            <a:ext cx="2761488" cy="502920"/>
          </a:xfrm>
          <a:prstGeom prst="rect">
            <a:avLst/>
          </a:prstGeom>
          <a:solidFill>
            <a:srgbClr val="0F2638"/>
          </a:solidFill>
          <a:ln w="8890">
            <a:solidFill>
              <a:srgbClr val="1E3952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8503920" y="4562856"/>
            <a:ext cx="2542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79F4E7"/>
                </a:solidFill>
              </a:rPr>
              <a:t>yes</a:t>
            </a:r>
            <a:endParaRPr lang="en-US" sz="970" dirty="0"/>
          </a:p>
        </p:txBody>
      </p:sp>
      <p:sp>
        <p:nvSpPr>
          <p:cNvPr id="51" name="Shape 48"/>
          <p:cNvSpPr/>
          <p:nvPr/>
        </p:nvSpPr>
        <p:spPr>
          <a:xfrm>
            <a:off x="658368" y="4919472"/>
            <a:ext cx="2980944" cy="502920"/>
          </a:xfrm>
          <a:prstGeom prst="rect">
            <a:avLst/>
          </a:prstGeom>
          <a:solidFill>
            <a:srgbClr val="0D1E30"/>
          </a:solidFill>
          <a:ln w="8890">
            <a:solidFill>
              <a:srgbClr val="1E3952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68096" y="5065776"/>
            <a:ext cx="276148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70" b="1" dirty="0">
                <a:solidFill>
                  <a:srgbClr val="DDE8F4"/>
                </a:solidFill>
              </a:rPr>
              <a:t>Scaling</a:t>
            </a:r>
            <a:endParaRPr lang="en-US" sz="970" dirty="0"/>
          </a:p>
        </p:txBody>
      </p:sp>
      <p:sp>
        <p:nvSpPr>
          <p:cNvPr id="53" name="Shape 50"/>
          <p:cNvSpPr/>
          <p:nvPr/>
        </p:nvSpPr>
        <p:spPr>
          <a:xfrm>
            <a:off x="3639312" y="4919472"/>
            <a:ext cx="2377440" cy="502920"/>
          </a:xfrm>
          <a:prstGeom prst="rect">
            <a:avLst/>
          </a:prstGeom>
          <a:solidFill>
            <a:srgbClr val="0D1E30"/>
          </a:solidFill>
          <a:ln w="8890">
            <a:solidFill>
              <a:srgbClr val="1E3952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749040" y="5065776"/>
            <a:ext cx="21579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8FA3BA"/>
                </a:solidFill>
              </a:rPr>
              <a:t>low</a:t>
            </a:r>
            <a:endParaRPr lang="en-US" sz="970" dirty="0"/>
          </a:p>
        </p:txBody>
      </p:sp>
      <p:sp>
        <p:nvSpPr>
          <p:cNvPr id="55" name="Shape 52"/>
          <p:cNvSpPr/>
          <p:nvPr/>
        </p:nvSpPr>
        <p:spPr>
          <a:xfrm>
            <a:off x="6016752" y="4919472"/>
            <a:ext cx="2377440" cy="502920"/>
          </a:xfrm>
          <a:prstGeom prst="rect">
            <a:avLst/>
          </a:prstGeom>
          <a:solidFill>
            <a:srgbClr val="0D1E30"/>
          </a:solidFill>
          <a:ln w="8890">
            <a:solidFill>
              <a:srgbClr val="1E3952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6126480" y="5065776"/>
            <a:ext cx="21579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8FA3BA"/>
                </a:solidFill>
              </a:rPr>
              <a:t>expensive</a:t>
            </a:r>
            <a:endParaRPr lang="en-US" sz="970" dirty="0"/>
          </a:p>
        </p:txBody>
      </p:sp>
      <p:sp>
        <p:nvSpPr>
          <p:cNvPr id="57" name="Shape 54"/>
          <p:cNvSpPr/>
          <p:nvPr/>
        </p:nvSpPr>
        <p:spPr>
          <a:xfrm>
            <a:off x="8394192" y="4919472"/>
            <a:ext cx="2761488" cy="502920"/>
          </a:xfrm>
          <a:prstGeom prst="rect">
            <a:avLst/>
          </a:prstGeom>
          <a:solidFill>
            <a:srgbClr val="123047"/>
          </a:solidFill>
          <a:ln w="8890">
            <a:solidFill>
              <a:srgbClr val="1E3952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8503920" y="5065776"/>
            <a:ext cx="254203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b="1" dirty="0">
                <a:solidFill>
                  <a:srgbClr val="79F4E7"/>
                </a:solidFill>
              </a:rPr>
              <a:t>cloud-native</a:t>
            </a:r>
            <a:endParaRPr lang="en-US" sz="970" dirty="0"/>
          </a:p>
        </p:txBody>
      </p:sp>
      <p:sp>
        <p:nvSpPr>
          <p:cNvPr id="59" name="Shape 56"/>
          <p:cNvSpPr/>
          <p:nvPr/>
        </p:nvSpPr>
        <p:spPr>
          <a:xfrm>
            <a:off x="658368" y="5358384"/>
            <a:ext cx="2359152" cy="841248"/>
          </a:xfrm>
          <a:prstGeom prst="roundRect">
            <a:avLst>
              <a:gd name="adj" fmla="val 14130"/>
            </a:avLst>
          </a:prstGeom>
          <a:solidFill>
            <a:srgbClr val="0E2035"/>
          </a:solidFill>
          <a:ln w="12700">
            <a:solidFill>
              <a:srgbClr val="203A53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22960" y="554126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42A43"/>
          </a:solidFill>
          <a:ln w="12700">
            <a:solidFill>
              <a:srgbClr val="142A43"/>
            </a:solidFill>
            <a:prstDash val="solid"/>
          </a:ln>
        </p:spPr>
      </p:sp>
      <p:pic>
        <p:nvPicPr>
          <p:cNvPr id="6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5132" y="5633436"/>
            <a:ext cx="199705" cy="199705"/>
          </a:xfrm>
          <a:prstGeom prst="rect">
            <a:avLst/>
          </a:prstGeom>
        </p:spPr>
      </p:pic>
      <p:sp>
        <p:nvSpPr>
          <p:cNvPr id="62" name="Text 58"/>
          <p:cNvSpPr/>
          <p:nvPr/>
        </p:nvSpPr>
        <p:spPr>
          <a:xfrm>
            <a:off x="1316736" y="5504688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7FBFF"/>
                </a:solidFill>
              </a:rPr>
              <a:t>Local UX</a:t>
            </a:r>
            <a:endParaRPr lang="en-US" sz="1100" dirty="0"/>
          </a:p>
        </p:txBody>
      </p:sp>
      <p:sp>
        <p:nvSpPr>
          <p:cNvPr id="63" name="Text 59"/>
          <p:cNvSpPr/>
          <p:nvPr/>
        </p:nvSpPr>
        <p:spPr>
          <a:xfrm>
            <a:off x="1316736" y="5733288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8FA3BA"/>
                </a:solidFill>
              </a:rPr>
              <a:t>Natural-language search in Uzbek and a familiar experience inside Telegram.</a:t>
            </a:r>
            <a:endParaRPr lang="en-US" sz="810" dirty="0"/>
          </a:p>
        </p:txBody>
      </p:sp>
      <p:sp>
        <p:nvSpPr>
          <p:cNvPr id="64" name="Shape 60"/>
          <p:cNvSpPr/>
          <p:nvPr/>
        </p:nvSpPr>
        <p:spPr>
          <a:xfrm>
            <a:off x="3493008" y="5358384"/>
            <a:ext cx="2359152" cy="841248"/>
          </a:xfrm>
          <a:prstGeom prst="roundRect">
            <a:avLst>
              <a:gd name="adj" fmla="val 14130"/>
            </a:avLst>
          </a:prstGeom>
          <a:solidFill>
            <a:srgbClr val="0E2035"/>
          </a:solidFill>
          <a:ln w="12700">
            <a:solidFill>
              <a:srgbClr val="203A53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3657600" y="554126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42A43"/>
          </a:solidFill>
          <a:ln w="12700">
            <a:solidFill>
              <a:srgbClr val="142A43"/>
            </a:solidFill>
            <a:prstDash val="solid"/>
          </a:ln>
        </p:spPr>
      </p:sp>
      <p:pic>
        <p:nvPicPr>
          <p:cNvPr id="6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49772" y="5633436"/>
            <a:ext cx="199705" cy="199705"/>
          </a:xfrm>
          <a:prstGeom prst="rect">
            <a:avLst/>
          </a:prstGeom>
        </p:spPr>
      </p:pic>
      <p:sp>
        <p:nvSpPr>
          <p:cNvPr id="67" name="Text 62"/>
          <p:cNvSpPr/>
          <p:nvPr/>
        </p:nvSpPr>
        <p:spPr>
          <a:xfrm>
            <a:off x="4151376" y="5504688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7FBFF"/>
                </a:solidFill>
              </a:rPr>
              <a:t>Data flywheel</a:t>
            </a:r>
            <a:endParaRPr lang="en-US" sz="1100" dirty="0"/>
          </a:p>
        </p:txBody>
      </p:sp>
      <p:sp>
        <p:nvSpPr>
          <p:cNvPr id="68" name="Text 63"/>
          <p:cNvSpPr/>
          <p:nvPr/>
        </p:nvSpPr>
        <p:spPr>
          <a:xfrm>
            <a:off x="4151376" y="5733288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8FA3BA"/>
                </a:solidFill>
              </a:rPr>
              <a:t>More usage → better recommendations → more engagement.</a:t>
            </a:r>
            <a:endParaRPr lang="en-US" sz="810" dirty="0"/>
          </a:p>
        </p:txBody>
      </p:sp>
      <p:sp>
        <p:nvSpPr>
          <p:cNvPr id="69" name="Shape 64"/>
          <p:cNvSpPr/>
          <p:nvPr/>
        </p:nvSpPr>
        <p:spPr>
          <a:xfrm>
            <a:off x="6327648" y="5358384"/>
            <a:ext cx="2359152" cy="841248"/>
          </a:xfrm>
          <a:prstGeom prst="roundRect">
            <a:avLst>
              <a:gd name="adj" fmla="val 14130"/>
            </a:avLst>
          </a:prstGeom>
          <a:solidFill>
            <a:srgbClr val="0E2035"/>
          </a:solidFill>
          <a:ln w="12700">
            <a:solidFill>
              <a:srgbClr val="203A53"/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6492240" y="554126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42A43"/>
          </a:solidFill>
          <a:ln w="12700">
            <a:solidFill>
              <a:srgbClr val="142A43"/>
            </a:solidFill>
            <a:prstDash val="solid"/>
          </a:ln>
        </p:spPr>
      </p:sp>
      <p:pic>
        <p:nvPicPr>
          <p:cNvPr id="71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584412" y="5633436"/>
            <a:ext cx="199705" cy="199705"/>
          </a:xfrm>
          <a:prstGeom prst="rect">
            <a:avLst/>
          </a:prstGeom>
        </p:spPr>
      </p:pic>
      <p:sp>
        <p:nvSpPr>
          <p:cNvPr id="72" name="Text 66"/>
          <p:cNvSpPr/>
          <p:nvPr/>
        </p:nvSpPr>
        <p:spPr>
          <a:xfrm>
            <a:off x="6986016" y="5504688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7FBFF"/>
                </a:solidFill>
              </a:rPr>
              <a:t>Distribution moat</a:t>
            </a:r>
            <a:endParaRPr lang="en-US" sz="1100" dirty="0"/>
          </a:p>
        </p:txBody>
      </p:sp>
      <p:sp>
        <p:nvSpPr>
          <p:cNvPr id="73" name="Text 67"/>
          <p:cNvSpPr/>
          <p:nvPr/>
        </p:nvSpPr>
        <p:spPr>
          <a:xfrm>
            <a:off x="6986016" y="5733288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8FA3BA"/>
                </a:solidFill>
              </a:rPr>
              <a:t>B2B market-entry strategy through regional education departments.</a:t>
            </a:r>
            <a:endParaRPr lang="en-US" sz="810" dirty="0"/>
          </a:p>
        </p:txBody>
      </p:sp>
      <p:sp>
        <p:nvSpPr>
          <p:cNvPr id="74" name="Shape 68"/>
          <p:cNvSpPr/>
          <p:nvPr/>
        </p:nvSpPr>
        <p:spPr>
          <a:xfrm>
            <a:off x="9162288" y="5358384"/>
            <a:ext cx="2359152" cy="841248"/>
          </a:xfrm>
          <a:prstGeom prst="roundRect">
            <a:avLst>
              <a:gd name="adj" fmla="val 14130"/>
            </a:avLst>
          </a:prstGeom>
          <a:solidFill>
            <a:srgbClr val="0E2035"/>
          </a:solidFill>
          <a:ln w="12700">
            <a:solidFill>
              <a:srgbClr val="203A53"/>
            </a:solidFill>
            <a:prstDash val="solid"/>
          </a:ln>
        </p:spPr>
      </p:sp>
      <p:sp>
        <p:nvSpPr>
          <p:cNvPr id="75" name="Shape 69"/>
          <p:cNvSpPr/>
          <p:nvPr/>
        </p:nvSpPr>
        <p:spPr>
          <a:xfrm>
            <a:off x="9326880" y="5541264"/>
            <a:ext cx="384048" cy="384048"/>
          </a:xfrm>
          <a:prstGeom prst="roundRect">
            <a:avLst>
              <a:gd name="adj" fmla="val 23810"/>
            </a:avLst>
          </a:prstGeom>
          <a:solidFill>
            <a:srgbClr val="142A43"/>
          </a:solidFill>
          <a:ln w="12700">
            <a:solidFill>
              <a:srgbClr val="142A43"/>
            </a:solidFill>
            <a:prstDash val="solid"/>
          </a:ln>
        </p:spPr>
      </p:sp>
      <p:pic>
        <p:nvPicPr>
          <p:cNvPr id="76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19052" y="5633436"/>
            <a:ext cx="199705" cy="199705"/>
          </a:xfrm>
          <a:prstGeom prst="rect">
            <a:avLst/>
          </a:prstGeom>
        </p:spPr>
      </p:pic>
      <p:sp>
        <p:nvSpPr>
          <p:cNvPr id="77" name="Text 70"/>
          <p:cNvSpPr/>
          <p:nvPr/>
        </p:nvSpPr>
        <p:spPr>
          <a:xfrm>
            <a:off x="9820656" y="5504688"/>
            <a:ext cx="14630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F7FBFF"/>
                </a:solidFill>
              </a:rPr>
              <a:t>Cloud-native</a:t>
            </a:r>
            <a:endParaRPr lang="en-US" sz="1100" dirty="0"/>
          </a:p>
        </p:txBody>
      </p:sp>
      <p:sp>
        <p:nvSpPr>
          <p:cNvPr id="78" name="Text 71"/>
          <p:cNvSpPr/>
          <p:nvPr/>
        </p:nvSpPr>
        <p:spPr>
          <a:xfrm>
            <a:off x="9820656" y="5733288"/>
            <a:ext cx="1490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10" dirty="0">
                <a:solidFill>
                  <a:srgbClr val="8FA3BA"/>
                </a:solidFill>
              </a:rPr>
              <a:t>Manage hundreds of schools separately from one platform.</a:t>
            </a:r>
            <a:endParaRPr lang="en-US" sz="810" dirty="0"/>
          </a:p>
        </p:txBody>
      </p:sp>
      <p:sp>
        <p:nvSpPr>
          <p:cNvPr id="8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F8D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93808" y="73152"/>
            <a:ext cx="2212848" cy="2212848"/>
          </a:xfrm>
          <a:prstGeom prst="ellipse">
            <a:avLst/>
          </a:prstGeom>
          <a:solidFill>
            <a:srgbClr val="4E7CFF">
              <a:alpha val="17000"/>
            </a:srgbClr>
          </a:solidFill>
          <a:ln w="12700">
            <a:solidFill>
              <a:srgbClr val="4E7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" y="5413248"/>
            <a:ext cx="1444752" cy="1325880"/>
          </a:xfrm>
          <a:prstGeom prst="ellipse">
            <a:avLst/>
          </a:prstGeom>
          <a:solidFill>
            <a:srgbClr val="42D9C8">
              <a:alpha val="12000"/>
            </a:srgbClr>
          </a:solidFill>
          <a:ln w="12700">
            <a:solidFill>
              <a:srgbClr val="42D9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42D9C8"/>
          </a:solidFill>
          <a:ln w="12700">
            <a:solidFill>
              <a:srgbClr val="42D9C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632" y="34747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6517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LibCloud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09928" y="265176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2D9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94360" y="82296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60" dirty="0">
                <a:solidFill>
                  <a:srgbClr val="42D9C8"/>
                </a:solidFill>
              </a:rPr>
              <a:t>EXECUTION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" y="1078992"/>
            <a:ext cx="10881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pilot to nationwide scale in 12 months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594360" y="1755648"/>
            <a:ext cx="10332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8FA3BA"/>
                </a:solidFill>
              </a:rPr>
              <a:t>Each phase ends with user value and measurable KPIs.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005840" y="3474720"/>
            <a:ext cx="10104120" cy="0"/>
          </a:xfrm>
          <a:prstGeom prst="line">
            <a:avLst/>
          </a:prstGeom>
          <a:noFill/>
          <a:ln w="38100">
            <a:solidFill>
              <a:srgbClr val="31506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636776" y="3264408"/>
            <a:ext cx="420624" cy="420624"/>
          </a:xfrm>
          <a:prstGeom prst="ellipse">
            <a:avLst/>
          </a:prstGeom>
          <a:solidFill>
            <a:srgbClr val="42D9C8"/>
          </a:solidFill>
          <a:ln w="38100">
            <a:solidFill>
              <a:srgbClr val="07111F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32688" y="2331720"/>
            <a:ext cx="1828800" cy="713232"/>
          </a:xfrm>
          <a:prstGeom prst="roundRect">
            <a:avLst>
              <a:gd name="adj" fmla="val 16667"/>
            </a:avLst>
          </a:prstGeom>
          <a:solidFill>
            <a:srgbClr val="0D1E31"/>
          </a:solidFill>
          <a:ln w="12700">
            <a:solidFill>
              <a:srgbClr val="42D9C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78992" y="249631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2D9C8"/>
                </a:solidFill>
              </a:rPr>
              <a:t>Q1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1435608" y="245973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F7FBFF"/>
                </a:solidFill>
              </a:rPr>
              <a:t>AI MVP</a:t>
            </a:r>
            <a:endParaRPr lang="en-US" sz="1320" dirty="0"/>
          </a:p>
        </p:txBody>
      </p:sp>
      <p:sp>
        <p:nvSpPr>
          <p:cNvPr id="16" name="Shape 13"/>
          <p:cNvSpPr/>
          <p:nvPr/>
        </p:nvSpPr>
        <p:spPr>
          <a:xfrm>
            <a:off x="932688" y="3886200"/>
            <a:ext cx="1828800" cy="1353312"/>
          </a:xfrm>
          <a:prstGeom prst="roundRect">
            <a:avLst>
              <a:gd name="adj" fmla="val 8784"/>
            </a:avLst>
          </a:prstGeom>
          <a:solidFill>
            <a:srgbClr val="0E2035"/>
          </a:solidFill>
          <a:ln w="12700">
            <a:solidFill>
              <a:srgbClr val="203A5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1097280" y="414223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42A43"/>
          </a:solidFill>
          <a:ln w="12700">
            <a:solidFill>
              <a:srgbClr val="142A43"/>
            </a:solidFill>
            <a:prstDash val="solid"/>
          </a:ln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98230" y="4243182"/>
            <a:ext cx="218724" cy="21872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636776" y="4078224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DDE8F4"/>
                </a:solidFill>
              </a:rPr>
              <a:t>Semantic search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DE8F4"/>
                </a:solidFill>
              </a:rPr>
              <a:t>AI cataloging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DE8F4"/>
                </a:solidFill>
              </a:rPr>
              <a:t>Grounded chat</a:t>
            </a:r>
            <a:endParaRPr lang="en-US" sz="930" dirty="0"/>
          </a:p>
        </p:txBody>
      </p:sp>
      <p:sp>
        <p:nvSpPr>
          <p:cNvPr id="20" name="Shape 16"/>
          <p:cNvSpPr/>
          <p:nvPr/>
        </p:nvSpPr>
        <p:spPr>
          <a:xfrm>
            <a:off x="4270248" y="3264408"/>
            <a:ext cx="420624" cy="420624"/>
          </a:xfrm>
          <a:prstGeom prst="ellipse">
            <a:avLst/>
          </a:prstGeom>
          <a:solidFill>
            <a:srgbClr val="4E7CFF"/>
          </a:solidFill>
          <a:ln w="38100">
            <a:solidFill>
              <a:srgbClr val="07111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566160" y="2331720"/>
            <a:ext cx="1828800" cy="713232"/>
          </a:xfrm>
          <a:prstGeom prst="roundRect">
            <a:avLst>
              <a:gd name="adj" fmla="val 16667"/>
            </a:avLst>
          </a:prstGeom>
          <a:solidFill>
            <a:srgbClr val="0D1E31"/>
          </a:solidFill>
          <a:ln w="12700">
            <a:solidFill>
              <a:srgbClr val="4E7CF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3712464" y="249631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7CFF"/>
                </a:solidFill>
              </a:rPr>
              <a:t>Q2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069080" y="245973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F7FBFF"/>
                </a:solidFill>
              </a:rPr>
              <a:t>Jizzakh pilot</a:t>
            </a:r>
            <a:endParaRPr lang="en-US" sz="1320" dirty="0"/>
          </a:p>
        </p:txBody>
      </p:sp>
      <p:sp>
        <p:nvSpPr>
          <p:cNvPr id="24" name="Shape 20"/>
          <p:cNvSpPr/>
          <p:nvPr/>
        </p:nvSpPr>
        <p:spPr>
          <a:xfrm>
            <a:off x="3566160" y="3886200"/>
            <a:ext cx="1828800" cy="1353312"/>
          </a:xfrm>
          <a:prstGeom prst="roundRect">
            <a:avLst>
              <a:gd name="adj" fmla="val 8784"/>
            </a:avLst>
          </a:prstGeom>
          <a:solidFill>
            <a:srgbClr val="0E2035"/>
          </a:solidFill>
          <a:ln w="12700">
            <a:solidFill>
              <a:srgbClr val="203A53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3730752" y="414223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42A43"/>
          </a:solidFill>
          <a:ln w="12700">
            <a:solidFill>
              <a:srgbClr val="142A43"/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31702" y="4243182"/>
            <a:ext cx="218724" cy="218724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270248" y="4078224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DDE8F4"/>
                </a:solidFill>
              </a:rPr>
              <a:t>School onboarding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DE8F4"/>
                </a:solidFill>
              </a:rPr>
              <a:t>Feedback loop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DE8F4"/>
                </a:solidFill>
              </a:rPr>
              <a:t>Reader AI</a:t>
            </a:r>
            <a:endParaRPr lang="en-US" sz="930" dirty="0"/>
          </a:p>
        </p:txBody>
      </p:sp>
      <p:sp>
        <p:nvSpPr>
          <p:cNvPr id="28" name="Shape 23"/>
          <p:cNvSpPr/>
          <p:nvPr/>
        </p:nvSpPr>
        <p:spPr>
          <a:xfrm>
            <a:off x="6903720" y="3264408"/>
            <a:ext cx="420624" cy="420624"/>
          </a:xfrm>
          <a:prstGeom prst="ellipse">
            <a:avLst/>
          </a:prstGeom>
          <a:solidFill>
            <a:srgbClr val="866DFF"/>
          </a:solidFill>
          <a:ln w="38100">
            <a:solidFill>
              <a:srgbClr val="07111F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199632" y="2331720"/>
            <a:ext cx="1828800" cy="713232"/>
          </a:xfrm>
          <a:prstGeom prst="roundRect">
            <a:avLst>
              <a:gd name="adj" fmla="val 16667"/>
            </a:avLst>
          </a:prstGeom>
          <a:solidFill>
            <a:srgbClr val="0D1E31"/>
          </a:solidFill>
          <a:ln w="12700">
            <a:solidFill>
              <a:srgbClr val="866DFF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345936" y="249631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866DFF"/>
                </a:solidFill>
              </a:rPr>
              <a:t>Q3</a:t>
            </a:r>
            <a:endParaRPr lang="en-US" sz="1100" dirty="0"/>
          </a:p>
        </p:txBody>
      </p:sp>
      <p:sp>
        <p:nvSpPr>
          <p:cNvPr id="31" name="Text 26"/>
          <p:cNvSpPr/>
          <p:nvPr/>
        </p:nvSpPr>
        <p:spPr>
          <a:xfrm>
            <a:off x="6702552" y="245973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F7FBFF"/>
                </a:solidFill>
              </a:rPr>
              <a:t>Analytics Pro</a:t>
            </a:r>
            <a:endParaRPr lang="en-US" sz="1320" dirty="0"/>
          </a:p>
        </p:txBody>
      </p:sp>
      <p:sp>
        <p:nvSpPr>
          <p:cNvPr id="32" name="Shape 27"/>
          <p:cNvSpPr/>
          <p:nvPr/>
        </p:nvSpPr>
        <p:spPr>
          <a:xfrm>
            <a:off x="6199632" y="3886200"/>
            <a:ext cx="1828800" cy="1353312"/>
          </a:xfrm>
          <a:prstGeom prst="roundRect">
            <a:avLst>
              <a:gd name="adj" fmla="val 8784"/>
            </a:avLst>
          </a:prstGeom>
          <a:solidFill>
            <a:srgbClr val="0E2035"/>
          </a:solidFill>
          <a:ln w="12700">
            <a:solidFill>
              <a:srgbClr val="203A53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364224" y="414223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42A43"/>
          </a:solidFill>
          <a:ln w="12700">
            <a:solidFill>
              <a:srgbClr val="142A43"/>
            </a:solidFill>
            <a:prstDash val="solid"/>
          </a:ln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465174" y="4243182"/>
            <a:ext cx="218724" cy="218724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6903720" y="4078224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DDE8F4"/>
                </a:solidFill>
              </a:rPr>
              <a:t>Purchase recommendations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DE8F4"/>
                </a:solidFill>
              </a:rPr>
              <a:t>District dashboard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DE8F4"/>
                </a:solidFill>
              </a:rPr>
              <a:t>Sales playbook</a:t>
            </a:r>
            <a:endParaRPr lang="en-US" sz="930" dirty="0"/>
          </a:p>
        </p:txBody>
      </p:sp>
      <p:sp>
        <p:nvSpPr>
          <p:cNvPr id="36" name="Shape 30"/>
          <p:cNvSpPr/>
          <p:nvPr/>
        </p:nvSpPr>
        <p:spPr>
          <a:xfrm>
            <a:off x="9537192" y="3264408"/>
            <a:ext cx="420624" cy="420624"/>
          </a:xfrm>
          <a:prstGeom prst="ellipse">
            <a:avLst/>
          </a:prstGeom>
          <a:solidFill>
            <a:srgbClr val="FFC857"/>
          </a:solidFill>
          <a:ln w="38100">
            <a:solidFill>
              <a:srgbClr val="07111F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8833104" y="2331720"/>
            <a:ext cx="1828800" cy="713232"/>
          </a:xfrm>
          <a:prstGeom prst="roundRect">
            <a:avLst>
              <a:gd name="adj" fmla="val 16667"/>
            </a:avLst>
          </a:prstGeom>
          <a:solidFill>
            <a:srgbClr val="0D1E31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38" name="Text 32"/>
          <p:cNvSpPr/>
          <p:nvPr/>
        </p:nvSpPr>
        <p:spPr>
          <a:xfrm>
            <a:off x="8979408" y="2496312"/>
            <a:ext cx="320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C857"/>
                </a:solidFill>
              </a:rPr>
              <a:t>Q4</a:t>
            </a:r>
            <a:endParaRPr lang="en-US" sz="1100" dirty="0"/>
          </a:p>
        </p:txBody>
      </p:sp>
      <p:sp>
        <p:nvSpPr>
          <p:cNvPr id="39" name="Text 33"/>
          <p:cNvSpPr/>
          <p:nvPr/>
        </p:nvSpPr>
        <p:spPr>
          <a:xfrm>
            <a:off x="9336024" y="2459736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20" b="1" dirty="0">
                <a:solidFill>
                  <a:srgbClr val="F7FBFF"/>
                </a:solidFill>
              </a:rPr>
              <a:t>Multi-region scale</a:t>
            </a:r>
            <a:endParaRPr lang="en-US" sz="1320" dirty="0"/>
          </a:p>
        </p:txBody>
      </p:sp>
      <p:sp>
        <p:nvSpPr>
          <p:cNvPr id="40" name="Shape 34"/>
          <p:cNvSpPr/>
          <p:nvPr/>
        </p:nvSpPr>
        <p:spPr>
          <a:xfrm>
            <a:off x="8833104" y="3886200"/>
            <a:ext cx="1828800" cy="1353312"/>
          </a:xfrm>
          <a:prstGeom prst="roundRect">
            <a:avLst>
              <a:gd name="adj" fmla="val 8784"/>
            </a:avLst>
          </a:prstGeom>
          <a:solidFill>
            <a:srgbClr val="0E2035"/>
          </a:solidFill>
          <a:ln w="12700">
            <a:solidFill>
              <a:srgbClr val="203A53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8997696" y="4142232"/>
            <a:ext cx="420624" cy="420624"/>
          </a:xfrm>
          <a:prstGeom prst="roundRect">
            <a:avLst>
              <a:gd name="adj" fmla="val 21739"/>
            </a:avLst>
          </a:prstGeom>
          <a:solidFill>
            <a:srgbClr val="142A43"/>
          </a:solidFill>
          <a:ln w="12700">
            <a:solidFill>
              <a:srgbClr val="142A43"/>
            </a:solidFill>
            <a:prstDash val="solid"/>
          </a:ln>
        </p:spPr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98646" y="4243182"/>
            <a:ext cx="218724" cy="218724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9537192" y="4078224"/>
            <a:ext cx="932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DDE8F4"/>
                </a:solidFill>
              </a:rPr>
              <a:t>Cloud hardening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DE8F4"/>
                </a:solidFill>
              </a:rPr>
              <a:t>Partnerships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DDE8F4"/>
                </a:solidFill>
              </a:rPr>
              <a:t>Nationwide rollout</a:t>
            </a:r>
            <a:endParaRPr lang="en-US" sz="930" dirty="0"/>
          </a:p>
        </p:txBody>
      </p:sp>
      <p:sp>
        <p:nvSpPr>
          <p:cNvPr id="44" name="Shape 37"/>
          <p:cNvSpPr/>
          <p:nvPr/>
        </p:nvSpPr>
        <p:spPr>
          <a:xfrm>
            <a:off x="658368" y="5650992"/>
            <a:ext cx="10890504" cy="512064"/>
          </a:xfrm>
          <a:prstGeom prst="roundRect">
            <a:avLst>
              <a:gd name="adj" fmla="val 23214"/>
            </a:avLst>
          </a:prstGeom>
          <a:solidFill>
            <a:srgbClr val="10273B"/>
          </a:solidFill>
          <a:ln w="12700">
            <a:solidFill>
              <a:srgbClr val="274763"/>
            </a:solidFill>
            <a:prstDash val="solid"/>
          </a:ln>
        </p:spPr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96112" y="5806440"/>
            <a:ext cx="137160" cy="13716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1097280" y="5769864"/>
            <a:ext cx="1527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DDE8F4"/>
                </a:solidFill>
              </a:rPr>
              <a:t>Onboarding time</a:t>
            </a:r>
            <a:endParaRPr lang="en-US" sz="880" dirty="0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962656" y="5806440"/>
            <a:ext cx="137160" cy="137160"/>
          </a:xfrm>
          <a:prstGeom prst="rect">
            <a:avLst/>
          </a:prstGeom>
        </p:spPr>
      </p:pic>
      <p:sp>
        <p:nvSpPr>
          <p:cNvPr id="48" name="Text 39"/>
          <p:cNvSpPr/>
          <p:nvPr/>
        </p:nvSpPr>
        <p:spPr>
          <a:xfrm>
            <a:off x="3163824" y="5769864"/>
            <a:ext cx="1527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DDE8F4"/>
                </a:solidFill>
              </a:rPr>
              <a:t>Books digitized</a:t>
            </a:r>
            <a:endParaRPr lang="en-US" sz="880" dirty="0"/>
          </a:p>
        </p:txBody>
      </p:sp>
      <p:pic>
        <p:nvPicPr>
          <p:cNvPr id="49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5029200" y="5806440"/>
            <a:ext cx="137160" cy="137160"/>
          </a:xfrm>
          <a:prstGeom prst="rect">
            <a:avLst/>
          </a:prstGeom>
        </p:spPr>
      </p:pic>
      <p:sp>
        <p:nvSpPr>
          <p:cNvPr id="50" name="Text 40"/>
          <p:cNvSpPr/>
          <p:nvPr/>
        </p:nvSpPr>
        <p:spPr>
          <a:xfrm>
            <a:off x="5230368" y="5769864"/>
            <a:ext cx="1527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DDE8F4"/>
                </a:solidFill>
              </a:rPr>
              <a:t>Search → reservation</a:t>
            </a:r>
            <a:endParaRPr lang="en-US" sz="880" dirty="0"/>
          </a:p>
        </p:txBody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095744" y="5806440"/>
            <a:ext cx="137160" cy="137160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7296912" y="5769864"/>
            <a:ext cx="1527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DDE8F4"/>
                </a:solidFill>
              </a:rPr>
              <a:t>Overdue loans</a:t>
            </a:r>
            <a:endParaRPr lang="en-US" sz="880" dirty="0"/>
          </a:p>
        </p:txBody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9162288" y="5806440"/>
            <a:ext cx="137160" cy="137160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9363456" y="5769864"/>
            <a:ext cx="1527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80" b="1" dirty="0">
                <a:solidFill>
                  <a:srgbClr val="DDE8F4"/>
                </a:solidFill>
              </a:rPr>
              <a:t>Active readers</a:t>
            </a:r>
            <a:endParaRPr lang="en-US" sz="880" dirty="0"/>
          </a:p>
        </p:txBody>
      </p:sp>
      <p:sp>
        <p:nvSpPr>
          <p:cNvPr id="55" name="Text 43"/>
          <p:cNvSpPr/>
          <p:nvPr/>
        </p:nvSpPr>
        <p:spPr>
          <a:xfrm>
            <a:off x="594360" y="6492240"/>
            <a:ext cx="4754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80" dirty="0">
                <a:solidFill>
                  <a:srgbClr val="5E7187"/>
                </a:solidFill>
              </a:rPr>
              <a:t>LIBCLOUD AI • TECH AWARD PITCH</a:t>
            </a:r>
            <a:endParaRPr lang="en-US" sz="850" dirty="0"/>
          </a:p>
        </p:txBody>
      </p:sp>
      <p:sp>
        <p:nvSpPr>
          <p:cNvPr id="5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F8D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93808" y="73152"/>
            <a:ext cx="2212848" cy="2212848"/>
          </a:xfrm>
          <a:prstGeom prst="ellipse">
            <a:avLst/>
          </a:prstGeom>
          <a:solidFill>
            <a:srgbClr val="4E7CFF">
              <a:alpha val="17000"/>
            </a:srgbClr>
          </a:solidFill>
          <a:ln w="12700">
            <a:solidFill>
              <a:srgbClr val="4E7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8288" y="5413248"/>
            <a:ext cx="1444752" cy="1325880"/>
          </a:xfrm>
          <a:prstGeom prst="ellipse">
            <a:avLst/>
          </a:prstGeom>
          <a:solidFill>
            <a:srgbClr val="42D9C8">
              <a:alpha val="12000"/>
            </a:srgbClr>
          </a:solidFill>
          <a:ln w="12700">
            <a:solidFill>
              <a:srgbClr val="42D9C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42D9C8"/>
          </a:solidFill>
          <a:ln w="12700">
            <a:solidFill>
              <a:srgbClr val="42D9C8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4632" y="34747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265176"/>
            <a:ext cx="1234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LibCloud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709928" y="265176"/>
            <a:ext cx="301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2D9C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4360" y="1316736"/>
            <a:ext cx="7589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are not digitizing the library.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 are bringing young people back to books.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658368" y="2944368"/>
            <a:ext cx="2359152" cy="1627632"/>
          </a:xfrm>
          <a:prstGeom prst="roundRect">
            <a:avLst>
              <a:gd name="adj" fmla="val 7303"/>
            </a:avLst>
          </a:prstGeom>
          <a:solidFill>
            <a:srgbClr val="0E2035"/>
          </a:solidFill>
          <a:ln w="12700">
            <a:solidFill>
              <a:srgbClr val="42D9C8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41248" y="319125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42D9C8"/>
          </a:solidFill>
          <a:ln w="12700">
            <a:solidFill>
              <a:srgbClr val="42D9C8"/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5365" y="3305373"/>
            <a:ext cx="247254" cy="24725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453896" y="3182112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7FBFF"/>
                </a:solidFill>
              </a:rPr>
              <a:t>Innovation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841248" y="374904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8FA3BA"/>
                </a:solidFill>
              </a:rPr>
              <a:t>An AI librarian built on local school data.</a:t>
            </a:r>
            <a:endParaRPr lang="en-US" sz="960" dirty="0"/>
          </a:p>
        </p:txBody>
      </p:sp>
      <p:sp>
        <p:nvSpPr>
          <p:cNvPr id="15" name="Shape 11"/>
          <p:cNvSpPr/>
          <p:nvPr/>
        </p:nvSpPr>
        <p:spPr>
          <a:xfrm>
            <a:off x="3493008" y="2944368"/>
            <a:ext cx="2359152" cy="1627632"/>
          </a:xfrm>
          <a:prstGeom prst="roundRect">
            <a:avLst>
              <a:gd name="adj" fmla="val 7303"/>
            </a:avLst>
          </a:prstGeom>
          <a:solidFill>
            <a:srgbClr val="0E2035"/>
          </a:solidFill>
          <a:ln w="12700">
            <a:solidFill>
              <a:srgbClr val="5DE2A5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3675888" y="319125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5DE2A5"/>
          </a:solidFill>
          <a:ln w="12700">
            <a:solidFill>
              <a:srgbClr val="5DE2A5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790005" y="3305373"/>
            <a:ext cx="247254" cy="24725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288536" y="3182112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7FBFF"/>
                </a:solidFill>
              </a:rPr>
              <a:t>Social impact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3675888" y="374904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8FA3BA"/>
                </a:solidFill>
              </a:rPr>
              <a:t>Makes books easier to find and strengthens reading habits.</a:t>
            </a:r>
            <a:endParaRPr lang="en-US" sz="960" dirty="0"/>
          </a:p>
        </p:txBody>
      </p:sp>
      <p:sp>
        <p:nvSpPr>
          <p:cNvPr id="20" name="Shape 15"/>
          <p:cNvSpPr/>
          <p:nvPr/>
        </p:nvSpPr>
        <p:spPr>
          <a:xfrm>
            <a:off x="6327648" y="2944368"/>
            <a:ext cx="2359152" cy="1627632"/>
          </a:xfrm>
          <a:prstGeom prst="roundRect">
            <a:avLst>
              <a:gd name="adj" fmla="val 7303"/>
            </a:avLst>
          </a:prstGeom>
          <a:solidFill>
            <a:srgbClr val="0E2035"/>
          </a:solidFill>
          <a:ln w="12700">
            <a:solidFill>
              <a:srgbClr val="4E7CFF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510528" y="319125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4E7CFF"/>
          </a:solidFill>
          <a:ln w="12700">
            <a:solidFill>
              <a:srgbClr val="4E7CFF"/>
            </a:solidFill>
            <a:prstDash val="solid"/>
          </a:ln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24645" y="3305373"/>
            <a:ext cx="247254" cy="24725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123176" y="3182112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7FBFF"/>
                </a:solidFill>
              </a:rPr>
              <a:t>Scalability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6510528" y="374904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8FA3BA"/>
                </a:solidFill>
              </a:rPr>
              <a:t>Hundreds of schools on one platform through multi-tenant SaaS.</a:t>
            </a:r>
            <a:endParaRPr lang="en-US" sz="960" dirty="0"/>
          </a:p>
        </p:txBody>
      </p:sp>
      <p:sp>
        <p:nvSpPr>
          <p:cNvPr id="25" name="Shape 19"/>
          <p:cNvSpPr/>
          <p:nvPr/>
        </p:nvSpPr>
        <p:spPr>
          <a:xfrm>
            <a:off x="9162288" y="2944368"/>
            <a:ext cx="2359152" cy="1627632"/>
          </a:xfrm>
          <a:prstGeom prst="roundRect">
            <a:avLst>
              <a:gd name="adj" fmla="val 7303"/>
            </a:avLst>
          </a:prstGeom>
          <a:solidFill>
            <a:srgbClr val="0E2035"/>
          </a:solidFill>
          <a:ln w="12700">
            <a:solidFill>
              <a:srgbClr val="FFC857"/>
            </a:solidFill>
            <a:prstDash val="solid"/>
          </a:ln>
          <a:effectLst>
            <a:outerShdw blurRad="25400" dist="12700" dir="2700000" algn="bl" rotWithShape="0">
              <a:srgbClr val="000000">
                <a:alpha val="2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9345168" y="3191256"/>
            <a:ext cx="475488" cy="475488"/>
          </a:xfrm>
          <a:prstGeom prst="roundRect">
            <a:avLst>
              <a:gd name="adj" fmla="val 19231"/>
            </a:avLst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459285" y="3305373"/>
            <a:ext cx="247254" cy="24725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957816" y="3182112"/>
            <a:ext cx="13075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50" b="1" dirty="0">
                <a:solidFill>
                  <a:srgbClr val="F7FBFF"/>
                </a:solidFill>
              </a:rPr>
              <a:t>Sustainable model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9345168" y="3749040"/>
            <a:ext cx="19202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8FA3BA"/>
                </a:solidFill>
              </a:rPr>
              <a:t>Diversified through B2B, B2C, and premium AI layers.</a:t>
            </a:r>
            <a:endParaRPr lang="en-US" sz="960" dirty="0"/>
          </a:p>
        </p:txBody>
      </p:sp>
      <p:sp>
        <p:nvSpPr>
          <p:cNvPr id="30" name="Shape 23"/>
          <p:cNvSpPr/>
          <p:nvPr/>
        </p:nvSpPr>
        <p:spPr>
          <a:xfrm>
            <a:off x="658368" y="4956048"/>
            <a:ext cx="7571232" cy="850392"/>
          </a:xfrm>
          <a:prstGeom prst="roundRect">
            <a:avLst>
              <a:gd name="adj" fmla="val 13978"/>
            </a:avLst>
          </a:prstGeom>
          <a:solidFill>
            <a:srgbClr val="103044"/>
          </a:solidFill>
          <a:ln w="12700">
            <a:solidFill>
              <a:srgbClr val="42D9C8"/>
            </a:solidFill>
            <a:prstDash val="solid"/>
          </a:ln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50976" y="5184648"/>
            <a:ext cx="329184" cy="32918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1481328" y="5129784"/>
            <a:ext cx="63642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7FBFF"/>
                </a:solidFill>
              </a:rPr>
              <a:t>Tech Award support will take LibCloud AI from the Jizzakh pilot to nationwide scale.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723376" y="5074920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200" b="1" dirty="0">
                <a:solidFill>
                  <a:srgbClr val="42D9C8"/>
                </a:solidFill>
              </a:rPr>
              <a:t>@libcloud_bot</a:t>
            </a:r>
            <a:endParaRPr lang="en-US" sz="2200" dirty="0"/>
          </a:p>
        </p:txBody>
      </p:sp>
      <p:sp>
        <p:nvSpPr>
          <p:cNvPr id="34" name="Text 26"/>
          <p:cNvSpPr/>
          <p:nvPr/>
        </p:nvSpPr>
        <p:spPr>
          <a:xfrm>
            <a:off x="8723376" y="5532120"/>
            <a:ext cx="2441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FA3BA"/>
                </a:solidFill>
              </a:rPr>
              <a:t>Demo • Partnership • Pilot</a:t>
            </a:r>
            <a:endParaRPr lang="en-US" sz="1050" dirty="0"/>
          </a:p>
        </p:txBody>
      </p:sp>
      <p:sp>
        <p:nvSpPr>
          <p:cNvPr id="35" name="Text 27"/>
          <p:cNvSpPr/>
          <p:nvPr/>
        </p:nvSpPr>
        <p:spPr>
          <a:xfrm>
            <a:off x="658368" y="6272784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7FB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LIBCLOUD AI</a:t>
            </a:r>
            <a:endParaRPr lang="en-US" sz="1800" dirty="0"/>
          </a:p>
        </p:txBody>
      </p:sp>
      <p:sp>
        <p:nvSpPr>
          <p:cNvPr id="36" name="Text 28"/>
          <p:cNvSpPr/>
          <p:nvPr/>
        </p:nvSpPr>
        <p:spPr>
          <a:xfrm>
            <a:off x="3493008" y="6089904"/>
            <a:ext cx="680289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8FA3BA"/>
                </a:solidFill>
              </a:rPr>
              <a:t>Digital infrastructure that brings young people back to books.</a:t>
            </a:r>
            <a:endParaRPr lang="en-US" sz="2000" dirty="0"/>
          </a:p>
        </p:txBody>
      </p:sp>
      <p:sp>
        <p:nvSpPr>
          <p:cNvPr id="3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39728" y="6473952"/>
            <a:ext cx="347472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7F8DA6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1220</Words>
  <Application>Microsoft Office PowerPoint</Application>
  <PresentationFormat>Widescreen</PresentationFormat>
  <Paragraphs>330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LibCloud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LibCloud AI — Tech Award Pitch (English)</dc:title>
  <dc:subject>LibCloud AI Tech Award Pitch</dc:subject>
  <dc:creator>OpenAI</dc:creator>
  <cp:lastModifiedBy>LG GRAM 50</cp:lastModifiedBy>
  <cp:revision>2</cp:revision>
  <dcterms:created xsi:type="dcterms:W3CDTF">2026-08-08T16:41:24Z</dcterms:created>
  <dcterms:modified xsi:type="dcterms:W3CDTF">2026-08-08T16:59:37Z</dcterms:modified>
</cp:coreProperties>
</file>